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подбираем региону портфель космических сервисов и сразу показываем, выдержит ли он ограничения кейса. На экране наш выбор: пожары Сибири, экология Волго-Каспия, поля Юга, транспорт Центра. Старт 1 140 миллионов, общественная польза 1 289 миллионов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Региону нужен не снимок, а решение: где событие, насколько ему верить и что делать дальше. Поэтому мы предлагаем портфель целиком. Общественные сервисы держат смысл, прикладные приносят деньги. Правила для всех четырёх общие: единый оператор, открытые форматы, права на историю данных остаются у заказчика.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сервис заканчивается действием человека. Пожары в Сибири — проверить сигнал. Экология Волго-Каспия — назначить инспекцию. Поля Юга — обследовать участок. Транспорт Центра — изменить план. Первые два общедоступны для органов, вторые два дают заказчику общую картину, а детализацию покупают те, кому она нужна.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Всего портфелей 5 670. Условия кейса при урезанном бюджете проходят 143, и каждая точка здесь — один из них. Золотая точка — первый по баллу модели, зелёная — наш выбор. Первый дешевле, но переводит поля и транспорт в коммерческий режим и срезает общедоступную часть. Наш даёт на 90 миллионов больше пользы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1 140: 630 миллионов бюджет за общественные сервисы и 510 частный партнёр за поля и транспорт. В год приходит 370,5, содержание стоит 313, остаётся 57,5. Если бюджет урежут до 1 180, мы проходим с запасом 40 и состав не меняем. Если коммерческого спроса не будет совсем, не хватит ста двадцати трёх миллионов в год. Мы говорим об этом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заказчики и договоры. Потом пилоты по пожарам и экологии, разбор пилотов и обновление ядра, запуск полей и транспорта, тираж в новые регионы. Оператор один и отвечает за сервис целиком, поставщика можно заменить, ядро переносится в следующий регион без переделки.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Слайды закончились, дальше показываем инструмент. Соберём портфель, сломаем его заменой лота, увидим, какое условие нарушено, и вернём обратно.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лота из восьми, каждый в одном из трёх режимов доступа: 5 670 возможных портфелей, 143 проходят условия при урезанном бюджете. В интерфейсе можно заменить любой лот, переключить сценарий бюджета и выгрузить результат в формате организаторов.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Девять условий инструмент проверяет сам и по каждому показывает факт, предел и остаток. Узкое место одно — стартовые затраты при урезанном бюджете, там остаётся 40 миллионов, около трёх процентов лимита.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Заказчик держит стандарты, права на историю данных и правила доступа. Оператор отвечает за сквозной сервис. Поставщики конкурируют за отдельные компоненты. Смена поставщика прописана заранее: повторное нарушение критического SLA, утрата прав на данные или закрытый формат выгрузки. Рисков восемь, у каждого есть ранний признак, мера и владелец.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Переносится каталог сервисов, обработка данных, интерфейсы, механизмы доступа, шаблоны договоров и методика KPI. Настраиваются границы и сезонные пороги, зоны событий, поля и маршруты. Опыт передаётся циклом: пилот, разбор, обновление ядра, следующий регион по шаблону.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8368" y="1298448"/>
            <a:ext cx="8595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Космос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инфраструктура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3675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работающих сервиса для региона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58368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6384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2322576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450592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986784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114800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50992" y="4315968"/>
            <a:ext cx="1517904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779008" y="4315968"/>
            <a:ext cx="1261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96112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456432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694176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3694176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254496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поступления, млн ₽ в год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052560" y="5029200"/>
            <a:ext cx="2615184" cy="100584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9290304" y="51572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90304" y="5596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запас, млн ₽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8368" y="623620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«Молоток». Голубев Павел, Петр Кузнецов, Тимофей Максимов, Лихатин Андрей, Потапенко Филипп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 покупает результат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Космический сервис полезен там, где он заканчивается решением человека.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68296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69264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Готовый ответ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9264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ответ вместо снимков: где событие, насколько ему верить и что делать дальше.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8886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59782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518" y="2368296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59782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целиком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59782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 в разных регионах. Общественные держат смысл, прикладные приносят деньги.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39405" y="1920240"/>
            <a:ext cx="348935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50301" y="2194560"/>
            <a:ext cx="694944" cy="69494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36829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0301" y="3035808"/>
            <a:ext cx="2867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Общие правила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50301" y="3401568"/>
            <a:ext cx="286755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оператор, открытые форматы, права на историю данных остаются у заказчика.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8368" y="4480560"/>
            <a:ext cx="1087495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042416" y="470001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сохраняет контроль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1042416" y="5120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 и правила доступа остаются у него. Поставщики конкурируют за отдельные части услуги и заменяются без остановки сервиса. Следующий регион получает то же ядро и настраивает его под себя.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сервиса. Четыре региона.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заканчивается конкретным действием пользователя.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31343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32688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FIRE-A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Сибирь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32688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688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Лесные и диспетчерские службы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проверить сигнал</a:t>
            </a:r>
            <a:endParaRPr lang="en-US" sz="12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4553712"/>
            <a:ext cx="2039112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32688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проверки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61004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735324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060" y="231343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35324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ENV-A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735324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Волго-Каспий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735324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3735324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Природоохранный орган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3735324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назначить инспекцию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5324" y="4553712"/>
            <a:ext cx="2039112" cy="36576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735324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доля подтверждённых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263640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537960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231343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537960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AGRI-B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6537960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Юг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6537960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6537960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Хозяйства и органы АПК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6537960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обследовать участок</a:t>
            </a:r>
            <a:endParaRPr lang="en-US" sz="12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553712"/>
            <a:ext cx="2039112" cy="36576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37960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сигнал с действием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066276" y="1883664"/>
            <a:ext cx="2587752" cy="3163824"/>
          </a:xfrm>
          <a:prstGeom prst="roundRect">
            <a:avLst>
              <a:gd name="adj" fmla="val 636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9340596" y="2139696"/>
            <a:ext cx="713232" cy="71323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4332" y="2313432"/>
            <a:ext cx="365760" cy="36576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340596" y="298094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TRANS-B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9340596" y="3273552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Центр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9340596" y="3602736"/>
            <a:ext cx="2039112" cy="9144"/>
          </a:xfrm>
          <a:prstGeom prst="rect">
            <a:avLst/>
          </a:prstGeom>
          <a:solidFill>
            <a:srgbClr val="E1E8E3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340596" y="3730752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Операторы и перевозчики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9340596" y="420624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изменить план</a:t>
            </a:r>
            <a:endParaRPr lang="en-US" sz="12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553712"/>
            <a:ext cx="2039112" cy="3657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340596" y="4553712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время до решения</a:t>
            </a: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5285232"/>
            <a:ext cx="5340096" cy="603504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5097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FIRE и ENV — общедоступная основа для органов</a:t>
            </a:r>
            <a:endParaRPr lang="en-US" sz="1250" dirty="0"/>
          </a:p>
        </p:txBody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5285232"/>
            <a:ext cx="5340096" cy="603504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6483096" y="5285232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 и TRANS — якорный слой и платная детализация</a:t>
            </a:r>
            <a:endParaRPr lang="en-US" sz="1250" dirty="0"/>
          </a:p>
        </p:txBody>
      </p:sp>
      <p:sp>
        <p:nvSpPr>
          <p:cNvPr id="48" name="Text 36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Баланс важнее максимума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Из 5 670 портфелей условия проходят 143. Каждая точка — один из них.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7406640" cy="3986784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1328" y="5230368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1 000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4494276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43845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1 100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3758184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648456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1 200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81328" y="3022092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912364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481328" y="2286000"/>
            <a:ext cx="5925312" cy="6401"/>
          </a:xfrm>
          <a:prstGeom prst="rect">
            <a:avLst/>
          </a:prstGeom>
          <a:solidFill>
            <a:srgbClr val="EDF3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2176272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1 400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1 130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136392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123944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1 150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111496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1 160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99048" y="53218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C7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1 170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" y="199339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польза, млн ₽ в год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5559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06640" y="2212848"/>
            <a:ext cx="12802" cy="3017520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888736" y="19202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предел 1 180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901757" y="34005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1508" y="33857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53624" y="35860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67151" y="32474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00595" y="411599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6529" y="32341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22753" y="355804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14122" y="37773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36197" y="31090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56114" y="38510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49724" y="27704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3500" y="37641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69724" y="40880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69641" y="35124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75616" y="31060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99102" y="2757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81840" y="34299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05326" y="30810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19018" y="34991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25242" y="38230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9143" y="27674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95367" y="30913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7483" y="32915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50969" y="29426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70886" y="368464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41010" y="29529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74454" y="3821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90388" y="293972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997940" y="34726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96612" y="326360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17856" y="42146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924080" y="46754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87981" y="348295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082089" y="508175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933542" y="24656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10056" y="28145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37608" y="43368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78354" y="49757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31218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53458" y="3207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23583" y="247598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359" y="346970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43583" y="37935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31466" y="506850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044745" y="3270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486985" y="432357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93209" y="46474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230222" y="516124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772961" y="246273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79185" y="27866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094122" y="32577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00346" y="358159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38852" y="450907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279599" y="514799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624828" y="264823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945990" y="34432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99267" y="50228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85823" y="503905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12794" y="46842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71799" y="31782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392960" y="397319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365906" y="47770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21425" y="4032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662172" y="46710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68396" y="49948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859682" y="44928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28562" y="2966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716280" y="39481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73209" y="41542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12546" y="38421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18770" y="416605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103998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514039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229807" y="360956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526073" y="350356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032297" y="382745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22587" y="414102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617525" y="40512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928811" y="44649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79185" y="3596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785409" y="3920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666903" y="403797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173127" y="436185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246986" y="34049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74454" y="432652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43666" y="517891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938687" y="50199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896612" y="437951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452214" y="468131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057193" y="48403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958438" y="500519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21425" y="485650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246986" y="355067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106570" y="482706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12794" y="51509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666903" y="42926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304081" y="486681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657027" y="38495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180430" y="39540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39600" y="379653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353458" y="485356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58438" y="501255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859682" y="517744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933542" y="404680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316114" y="35227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901343" y="374648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177857" y="409538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229807" y="394080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736031" y="426468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321259" y="448846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173127" y="472842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86654" y="438982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246986" y="406741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36031" y="437657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341010" y="45355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242255" y="470045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034869" y="511708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689226" y="503611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587898" y="456207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548396" y="477848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039600" y="420727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301508" y="4871228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597774" y="476523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03998" y="508911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177857" y="413219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034869" y="509205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763085" y="4355964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6363" y="424702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6970471" y="408508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108728" y="417930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970471" y="452379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832214" y="4473739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970471" y="4934532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256861" y="430591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237110" y="4688677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7039600" y="4906561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108728" y="4822646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276612" y="4629790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177857" y="4794675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624828" y="5130333"/>
            <a:ext cx="82296" cy="82296"/>
          </a:xfrm>
          <a:prstGeom prst="ellipse">
            <a:avLst/>
          </a:prstGeom>
          <a:solidFill>
            <a:srgbClr val="55B894">
              <a:alpha val="65000"/>
            </a:srgbClr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353117" y="3669533"/>
            <a:ext cx="192024" cy="192024"/>
          </a:xfrm>
          <a:prstGeom prst="ellipse">
            <a:avLst/>
          </a:prstGeom>
          <a:solidFill>
            <a:srgbClr val="A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2595433" y="4003289"/>
            <a:ext cx="1133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первый по баллу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3360420" y="3007050"/>
            <a:ext cx="192024" cy="192024"/>
          </a:xfrm>
          <a:prstGeom prst="ellipse">
            <a:avLst/>
          </a:prstGeom>
          <a:solidFill>
            <a:srgbClr val="0B4A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2560320" y="300247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выбор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8284464" y="1883664"/>
            <a:ext cx="3246120" cy="3986784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0" name="Text 168"/>
          <p:cNvSpPr txBox="1"/>
          <p:nvPr/>
        </p:nvSpPr>
        <p:spPr>
          <a:xfrm>
            <a:off x="8577072" y="212140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этот</a:t>
            </a:r>
            <a:endParaRPr lang="en-US" sz="1600" dirty="0"/>
          </a:p>
        </p:txBody>
      </p:sp>
      <p:sp>
        <p:nvSpPr>
          <p:cNvPr id="171" name="Shape 169"/>
          <p:cNvSpPr/>
          <p:nvPr/>
        </p:nvSpPr>
        <p:spPr>
          <a:xfrm>
            <a:off x="8595360" y="2688336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8851392" y="2596896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Больше общественной пользы, чем у дешёвых вариантов</a:t>
            </a:r>
            <a:endParaRPr lang="en-US" sz="1150" dirty="0"/>
          </a:p>
        </p:txBody>
      </p:sp>
      <p:sp>
        <p:nvSpPr>
          <p:cNvPr id="173" name="Shape 171"/>
          <p:cNvSpPr/>
          <p:nvPr/>
        </p:nvSpPr>
        <p:spPr>
          <a:xfrm>
            <a:off x="8595360" y="3310128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8851392" y="3218688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Денег хватает на содержание всех четырёх сервисов</a:t>
            </a:r>
            <a:endParaRPr lang="en-US" sz="1150" dirty="0"/>
          </a:p>
        </p:txBody>
      </p:sp>
      <p:sp>
        <p:nvSpPr>
          <p:cNvPr id="175" name="Shape 173"/>
          <p:cNvSpPr/>
          <p:nvPr/>
        </p:nvSpPr>
        <p:spPr>
          <a:xfrm>
            <a:off x="8595360" y="3931920"/>
            <a:ext cx="100584" cy="100584"/>
          </a:xfrm>
          <a:prstGeom prst="ellips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8851392" y="3840480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Остаётся запас, если бюджет урежут</a:t>
            </a:r>
            <a:endParaRPr lang="en-US" sz="1150" dirty="0"/>
          </a:p>
        </p:txBody>
      </p:sp>
      <p:pic>
        <p:nvPicPr>
          <p:cNvPr id="17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7072" y="4517136"/>
            <a:ext cx="2651760" cy="512064"/>
          </a:xfrm>
          <a:prstGeom prst="rect">
            <a:avLst/>
          </a:prstGeom>
        </p:spPr>
      </p:pic>
      <p:sp>
        <p:nvSpPr>
          <p:cNvPr id="178" name="Text 175"/>
          <p:cNvSpPr txBox="1"/>
          <p:nvPr/>
        </p:nvSpPr>
        <p:spPr>
          <a:xfrm>
            <a:off x="8741664" y="45171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+90 млн ₽ пользы в год</a:t>
            </a:r>
            <a:endParaRPr lang="en-US" sz="1350" dirty="0"/>
          </a:p>
        </p:txBody>
      </p:sp>
      <p:sp>
        <p:nvSpPr>
          <p:cNvPr id="179" name="Text 176"/>
          <p:cNvSpPr txBox="1"/>
          <p:nvPr/>
        </p:nvSpPr>
        <p:spPr>
          <a:xfrm>
            <a:off x="8577072" y="51389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сравнению с первым по баллу: он дешевле, но срезает общедоступную часть услуги.</a:t>
            </a:r>
            <a:endParaRPr lang="en-US" sz="1100" dirty="0"/>
          </a:p>
        </p:txBody>
      </p:sp>
      <p:sp>
        <p:nvSpPr>
          <p:cNvPr id="180" name="Text 17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Деньги сходятся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контура на старте, положительный баланс в год и запас при урезанном бюджете.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58368" y="1883664"/>
            <a:ext cx="640080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Старт, млн ₽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3116660" cy="82296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364" y="2468880"/>
            <a:ext cx="2534332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61872" y="24688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433396" y="24688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510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за FIRE и ENV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177364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 за AGRI и TRANS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70064" y="1883664"/>
            <a:ext cx="4160520" cy="2286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717536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Год, млн ₽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6" y="2743200"/>
            <a:ext cx="1042416" cy="10424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607808" y="2395728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370,5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516368" y="3877056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904978"/>
            <a:ext cx="1042416" cy="8806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87968" y="255750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796528" y="3877056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2688336"/>
            <a:ext cx="1005840" cy="10058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277856" y="296265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+57,5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58368" y="4370832"/>
            <a:ext cx="10874959" cy="1591056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1024128" y="45537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Если бюджет урежут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24128" y="4974336"/>
            <a:ext cx="10140696" cy="512064"/>
          </a:xfrm>
          <a:prstGeom prst="roundRect">
            <a:avLst>
              <a:gd name="adj" fmla="val 14286"/>
            </a:avLst>
          </a:prstGeom>
          <a:solidFill>
            <a:srgbClr val="EDF3EF"/>
          </a:solidFill>
          <a:ln w="12700">
            <a:solidFill>
              <a:srgbClr val="E4EDE7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974336"/>
            <a:ext cx="8892610" cy="512064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5026" y="4974336"/>
            <a:ext cx="293733" cy="51206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261872" y="49743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 1 140</a:t>
            </a:r>
            <a:endParaRPr lang="en-US" sz="1400" dirty="0"/>
          </a:p>
        </p:txBody>
      </p:sp>
      <p:sp>
        <p:nvSpPr>
          <p:cNvPr id="28" name="Shape 19"/>
          <p:cNvSpPr/>
          <p:nvPr/>
        </p:nvSpPr>
        <p:spPr>
          <a:xfrm>
            <a:off x="10228760" y="4828032"/>
            <a:ext cx="12802" cy="804672"/>
          </a:xfrm>
          <a:prstGeom prst="rect">
            <a:avLst/>
          </a:prstGeom>
          <a:solidFill>
            <a:srgbClr val="B1483C"/>
          </a:solidFill>
          <a:ln/>
        </p:spPr>
      </p:sp>
      <p:sp>
        <p:nvSpPr>
          <p:cNvPr id="29" name="Text 20"/>
          <p:cNvSpPr txBox="1"/>
          <p:nvPr/>
        </p:nvSpPr>
        <p:spPr>
          <a:xfrm>
            <a:off x="8454824" y="45720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148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урезанный бюджет 1 180</a:t>
            </a:r>
            <a:endParaRPr lang="en-US" sz="1000" dirty="0"/>
          </a:p>
        </p:txBody>
      </p:sp>
      <p:sp>
        <p:nvSpPr>
          <p:cNvPr id="30" name="Shape 21"/>
          <p:cNvSpPr/>
          <p:nvPr/>
        </p:nvSpPr>
        <p:spPr>
          <a:xfrm>
            <a:off x="11164824" y="4828032"/>
            <a:ext cx="12802" cy="804672"/>
          </a:xfrm>
          <a:prstGeom prst="rect">
            <a:avLst/>
          </a:prstGeom>
          <a:solidFill>
            <a:srgbClr val="8D9E95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10744200" y="4572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D9E9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1 300</a:t>
            </a:r>
            <a:endParaRPr lang="en-US" sz="1000" dirty="0"/>
          </a:p>
        </p:txBody>
      </p:sp>
      <p:sp>
        <p:nvSpPr>
          <p:cNvPr id="32" name="Text 23"/>
          <p:cNvSpPr txBox="1"/>
          <p:nvPr/>
        </p:nvSpPr>
        <p:spPr>
          <a:xfrm>
            <a:off x="1024128" y="56144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 млн ₽</a:t>
            </a:r>
            <a:endParaRPr lang="en-US" sz="1100" dirty="0"/>
          </a:p>
        </p:txBody>
      </p:sp>
      <p:sp>
        <p:nvSpPr>
          <p:cNvPr id="33" name="Text 24"/>
          <p:cNvSpPr txBox="1"/>
          <p:nvPr/>
        </p:nvSpPr>
        <p:spPr>
          <a:xfrm>
            <a:off x="3858768" y="56144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коммерческой выручки не хватит 123 млн ₽ в год, покрывать придётся заказчику.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Пять шагов до 2033 года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каждого шага есть результат, ответственный и признак завершения.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24128" y="3035808"/>
            <a:ext cx="10143439" cy="10973"/>
          </a:xfrm>
          <a:prstGeom prst="rect">
            <a:avLst/>
          </a:prstGeom>
          <a:solidFill>
            <a:srgbClr val="DC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2027, первое полугодие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37490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0467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Заказчики и договоры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89864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2027–2028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70332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0332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89864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37490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4495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Пилоты по пожарам и экологии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04495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13892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2028, второе полугодие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94360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9436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13892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374904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28523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пилотов и обновление ядра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528523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737920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2029–2030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18388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18388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737920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374904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52551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 полей и транспорта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752551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частный партнёр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9619488" y="215798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2031–2033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0424160" y="28072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5B89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42416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9619488" y="3511296"/>
            <a:ext cx="2066544" cy="1792224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0" y="3749040"/>
            <a:ext cx="274320" cy="27432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9765792" y="4169664"/>
            <a:ext cx="17739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в новые регионы</a:t>
            </a:r>
            <a:endParaRPr lang="en-US" sz="1200" dirty="0"/>
          </a:p>
        </p:txBody>
      </p:sp>
      <p:sp>
        <p:nvSpPr>
          <p:cNvPr id="39" name="Text 32"/>
          <p:cNvSpPr txBox="1"/>
          <p:nvPr/>
        </p:nvSpPr>
        <p:spPr>
          <a:xfrm>
            <a:off x="9765792" y="4919472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5687568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35331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один</a:t>
            </a:r>
            <a:endParaRPr lang="en-US" sz="120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576" y="5687568"/>
            <a:ext cx="219456" cy="219456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91947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Поставщика можно заменить</a:t>
            </a:r>
            <a:endParaRPr lang="en-US" sz="1200" dirty="0"/>
          </a:p>
        </p:txBody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4736" y="5687568"/>
            <a:ext cx="219456" cy="219456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485632" y="54681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Ядро переносится в новый регион</a:t>
            </a:r>
            <a:endParaRPr lang="en-US" sz="1200" dirty="0"/>
          </a:p>
        </p:txBody>
      </p:sp>
      <p:sp>
        <p:nvSpPr>
          <p:cNvPr id="47" name="Text 37"/>
          <p:cNvSpPr txBox="1"/>
          <p:nvPr/>
        </p:nvSpPr>
        <p:spPr>
          <a:xfrm>
            <a:off x="10618927" y="6327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9144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Дальше — живая демонстрация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175564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Соберём портфель, сломаем его заменой лота и вернём обратно.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315968" y="2395728"/>
            <a:ext cx="3566160" cy="35661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679192"/>
            <a:ext cx="2999232" cy="2999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0" y="6108192"/>
            <a:ext cx="121916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cosmo.arbuz.lol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Портфель собирается за минуту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Эксперт меняет состав и сразу видит новый результат.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75104"/>
            <a:ext cx="6766560" cy="8046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97510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5 670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699248" y="1975104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портфелей вообще можно собрать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 rot="10800000">
            <a:off x="1371600" y="281635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35808"/>
            <a:ext cx="3931920" cy="8046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50976" y="303580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4864608" y="3035808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столько остаётся, если держать условия кейса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 rot="10800000">
            <a:off x="1371600" y="3877056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096512"/>
            <a:ext cx="2103120" cy="8046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50976" y="409651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800" dirty="0"/>
          </a:p>
        </p:txBody>
      </p:sp>
      <p:sp>
        <p:nvSpPr>
          <p:cNvPr id="15" name="Text 10"/>
          <p:cNvSpPr txBox="1"/>
          <p:nvPr/>
        </p:nvSpPr>
        <p:spPr>
          <a:xfrm>
            <a:off x="3035808" y="4096512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тот, который мы предлагаем региону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8368" y="5230368"/>
            <a:ext cx="10874959" cy="841248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969264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225296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открыть портфель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 rot="5400000">
            <a:off x="2852928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90672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346704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переключить бюджет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 rot="5400000">
            <a:off x="4974336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212080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5468112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заменить лот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 rot="5400000">
            <a:off x="7095744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33488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7589520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увидеть, что сломалось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 rot="5400000">
            <a:off x="9217152" y="5568696"/>
            <a:ext cx="146304" cy="146304"/>
          </a:xfrm>
          <a:prstGeom prst="triangle">
            <a:avLst/>
          </a:prstGeom>
          <a:solidFill>
            <a:srgbClr val="BBD3C6"/>
          </a:solidFill>
          <a:ln w="12700">
            <a:solidFill>
              <a:srgbClr val="BBD3C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454896" y="5230368"/>
            <a:ext cx="2377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B89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9710928" y="5230368"/>
            <a:ext cx="1627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вернуть обратно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Девять условий кейса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Инструмент показывает по каждому факт, предел и остаток.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189988"/>
            <a:ext cx="173736" cy="173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53312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Четыре лота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353312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 ровно столько и нужно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53312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67558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48886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86630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498" y="2189988"/>
            <a:ext cx="173736" cy="1737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043830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Территории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043830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при минимуме 3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43830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43830" y="2688336"/>
            <a:ext cx="1039673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58077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1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039405" y="1883664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77149" y="2103120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4017" y="2189988"/>
            <a:ext cx="173736" cy="17373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734349" y="2084832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Технологические группы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734349" y="2340864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734349" y="2688336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248595" y="2596896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58368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896112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3506724"/>
            <a:ext cx="173736" cy="17373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353312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Общедоступные сервисы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1353312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при минимуме 2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353312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2867558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ровно порог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348886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4586630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498" y="3506724"/>
            <a:ext cx="173736" cy="173736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5043830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Стартовые затраты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5043830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1 140 при пределе 1 180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5043830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5043830" y="4005072"/>
            <a:ext cx="1339240" cy="109728"/>
          </a:xfrm>
          <a:prstGeom prst="roundRect">
            <a:avLst>
              <a:gd name="adj" fmla="val 50000"/>
            </a:avLst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558077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40</a:t>
            </a:r>
            <a:endParaRPr lang="en-US" sz="950" dirty="0"/>
          </a:p>
        </p:txBody>
      </p:sp>
      <p:sp>
        <p:nvSpPr>
          <p:cNvPr id="45" name="Shape 38"/>
          <p:cNvSpPr/>
          <p:nvPr/>
        </p:nvSpPr>
        <p:spPr>
          <a:xfrm>
            <a:off x="8039405" y="3200400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8277149" y="3419856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017" y="3506724"/>
            <a:ext cx="173736" cy="17373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8734349" y="340156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Содержание в год</a:t>
            </a:r>
            <a:endParaRPr lang="en-US" sz="12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3657600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313 при пределе 360</a:t>
            </a:r>
            <a:endParaRPr lang="en-US" sz="1100" dirty="0"/>
          </a:p>
        </p:txBody>
      </p:sp>
      <p:sp>
        <p:nvSpPr>
          <p:cNvPr id="50" name="Shape 42"/>
          <p:cNvSpPr/>
          <p:nvPr/>
        </p:nvSpPr>
        <p:spPr>
          <a:xfrm>
            <a:off x="8734349" y="4005072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8734349" y="4005072"/>
            <a:ext cx="1205250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10248595" y="39136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47</a:t>
            </a:r>
            <a:endParaRPr lang="en-US" sz="950" dirty="0"/>
          </a:p>
        </p:txBody>
      </p:sp>
      <p:sp>
        <p:nvSpPr>
          <p:cNvPr id="53" name="Shape 45"/>
          <p:cNvSpPr/>
          <p:nvPr/>
        </p:nvSpPr>
        <p:spPr>
          <a:xfrm>
            <a:off x="658368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896112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823460"/>
            <a:ext cx="173736" cy="173736"/>
          </a:xfrm>
          <a:prstGeom prst="rect">
            <a:avLst/>
          </a:prstGeom>
        </p:spPr>
      </p:pic>
      <p:sp>
        <p:nvSpPr>
          <p:cNvPr id="56" name="Text 47"/>
          <p:cNvSpPr txBox="1"/>
          <p:nvPr/>
        </p:nvSpPr>
        <p:spPr>
          <a:xfrm>
            <a:off x="1353312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Общественная польза</a:t>
            </a:r>
            <a:endParaRPr lang="en-US" sz="1200" dirty="0"/>
          </a:p>
        </p:txBody>
      </p:sp>
      <p:sp>
        <p:nvSpPr>
          <p:cNvPr id="57" name="Text 48"/>
          <p:cNvSpPr txBox="1"/>
          <p:nvPr/>
        </p:nvSpPr>
        <p:spPr>
          <a:xfrm>
            <a:off x="1353312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1 289 при минимуме 1 000</a:t>
            </a:r>
            <a:endParaRPr lang="en-US" sz="1100" dirty="0"/>
          </a:p>
        </p:txBody>
      </p:sp>
      <p:sp>
        <p:nvSpPr>
          <p:cNvPr id="58" name="Shape 49"/>
          <p:cNvSpPr/>
          <p:nvPr/>
        </p:nvSpPr>
        <p:spPr>
          <a:xfrm>
            <a:off x="1353312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1353312" y="5321808"/>
            <a:ext cx="1075431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2867558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289</a:t>
            </a:r>
            <a:endParaRPr lang="en-US" sz="950" dirty="0"/>
          </a:p>
        </p:txBody>
      </p:sp>
      <p:sp>
        <p:nvSpPr>
          <p:cNvPr id="61" name="Shape 52"/>
          <p:cNvSpPr/>
          <p:nvPr/>
        </p:nvSpPr>
        <p:spPr>
          <a:xfrm>
            <a:off x="4348886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2" name="Shape 53"/>
          <p:cNvSpPr/>
          <p:nvPr/>
        </p:nvSpPr>
        <p:spPr>
          <a:xfrm>
            <a:off x="4586630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3498" y="4823460"/>
            <a:ext cx="173736" cy="173736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5043830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Поступления к содержанию</a:t>
            </a:r>
            <a:endParaRPr lang="en-US" sz="1200" dirty="0"/>
          </a:p>
        </p:txBody>
      </p:sp>
      <p:sp>
        <p:nvSpPr>
          <p:cNvPr id="65" name="Text 55"/>
          <p:cNvSpPr txBox="1"/>
          <p:nvPr/>
        </p:nvSpPr>
        <p:spPr>
          <a:xfrm>
            <a:off x="5043830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1,18 при минимуме 0,60</a:t>
            </a:r>
            <a:endParaRPr lang="en-US" sz="1100" dirty="0"/>
          </a:p>
        </p:txBody>
      </p:sp>
      <p:sp>
        <p:nvSpPr>
          <p:cNvPr id="66" name="Shape 56"/>
          <p:cNvSpPr/>
          <p:nvPr/>
        </p:nvSpPr>
        <p:spPr>
          <a:xfrm>
            <a:off x="5043830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67" name="Shape 57"/>
          <p:cNvSpPr/>
          <p:nvPr/>
        </p:nvSpPr>
        <p:spPr>
          <a:xfrm>
            <a:off x="5043830" y="5321808"/>
            <a:ext cx="70265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68" name="Text 58"/>
          <p:cNvSpPr txBox="1"/>
          <p:nvPr/>
        </p:nvSpPr>
        <p:spPr>
          <a:xfrm>
            <a:off x="6558077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0,58</a:t>
            </a:r>
            <a:endParaRPr lang="en-US" sz="950" dirty="0"/>
          </a:p>
        </p:txBody>
      </p:sp>
      <p:sp>
        <p:nvSpPr>
          <p:cNvPr id="69" name="Shape 59"/>
          <p:cNvSpPr/>
          <p:nvPr/>
        </p:nvSpPr>
        <p:spPr>
          <a:xfrm>
            <a:off x="8039405" y="4517136"/>
            <a:ext cx="3489350" cy="1133856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70" name="Shape 60"/>
          <p:cNvSpPr/>
          <p:nvPr/>
        </p:nvSpPr>
        <p:spPr>
          <a:xfrm>
            <a:off x="8277149" y="4736592"/>
            <a:ext cx="347472" cy="347472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4017" y="4823460"/>
            <a:ext cx="173736" cy="173736"/>
          </a:xfrm>
          <a:prstGeom prst="rect">
            <a:avLst/>
          </a:prstGeom>
        </p:spPr>
      </p:pic>
      <p:sp>
        <p:nvSpPr>
          <p:cNvPr id="72" name="Text 61"/>
          <p:cNvSpPr txBox="1"/>
          <p:nvPr/>
        </p:nvSpPr>
        <p:spPr>
          <a:xfrm>
            <a:off x="8734349" y="4718304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Тиражируемость</a:t>
            </a:r>
            <a:endParaRPr lang="en-US" sz="1200" dirty="0"/>
          </a:p>
        </p:txBody>
      </p:sp>
      <p:sp>
        <p:nvSpPr>
          <p:cNvPr id="73" name="Text 62"/>
          <p:cNvSpPr txBox="1"/>
          <p:nvPr/>
        </p:nvSpPr>
        <p:spPr>
          <a:xfrm>
            <a:off x="8734349" y="4974336"/>
            <a:ext cx="25749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0,73 при минимуме 0,63</a:t>
            </a:r>
            <a:endParaRPr lang="en-US" sz="1100" dirty="0"/>
          </a:p>
        </p:txBody>
      </p:sp>
      <p:sp>
        <p:nvSpPr>
          <p:cNvPr id="74" name="Shape 63"/>
          <p:cNvSpPr/>
          <p:nvPr/>
        </p:nvSpPr>
        <p:spPr>
          <a:xfrm>
            <a:off x="8734349" y="5321808"/>
            <a:ext cx="1386230" cy="109728"/>
          </a:xfrm>
          <a:prstGeom prst="roundRect">
            <a:avLst>
              <a:gd name="adj" fmla="val 50000"/>
            </a:avLst>
          </a:prstGeom>
          <a:solidFill>
            <a:srgbClr val="E4EDE7"/>
          </a:solidFill>
          <a:ln w="12700">
            <a:solidFill>
              <a:srgbClr val="E4EDE7"/>
            </a:solidFill>
            <a:prstDash val="solid"/>
          </a:ln>
        </p:spPr>
      </p:sp>
      <p:sp>
        <p:nvSpPr>
          <p:cNvPr id="75" name="Shape 64"/>
          <p:cNvSpPr/>
          <p:nvPr/>
        </p:nvSpPr>
        <p:spPr>
          <a:xfrm>
            <a:off x="8734349" y="5321808"/>
            <a:ext cx="1196336" cy="109728"/>
          </a:xfrm>
          <a:prstGeom prst="roundRect">
            <a:avLst>
              <a:gd name="adj" fmla="val 50000"/>
            </a:avLst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10248595" y="5230368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 0,10</a:t>
            </a:r>
            <a:endParaRPr lang="en-US" sz="95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5797296"/>
            <a:ext cx="6309360" cy="493776"/>
          </a:xfrm>
          <a:prstGeom prst="rect">
            <a:avLst/>
          </a:prstGeom>
        </p:spPr>
      </p:pic>
      <p:sp>
        <p:nvSpPr>
          <p:cNvPr id="78" name="Text 66"/>
          <p:cNvSpPr txBox="1"/>
          <p:nvPr/>
        </p:nvSpPr>
        <p:spPr>
          <a:xfrm>
            <a:off x="914400" y="579729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Тоньше всего запас по старту при урезанном бюджете: 40 млн ₽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Кто за что отвечает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 держит стандарты и данные, конкуренция сохраняется.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3042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6420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Заказчик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стандарты, права на историю данных, правила доступа и приёмка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 rot="5400000">
            <a:off x="416966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9884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7316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2304288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50468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77316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единый сервис, SLA, журналы, интеграции и поддержка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 rot="5400000">
            <a:off x="8010144" y="2697480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39328" y="1920240"/>
            <a:ext cx="3364992" cy="173736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613648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2304288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345168" y="2194560"/>
            <a:ext cx="212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Поставщики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613648" y="2889504"/>
            <a:ext cx="2816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отдельные компоненты и периоды услуги, конкурируют между собой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836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5097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15968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82496" y="42062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Когда меняем поставщика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50976" y="490118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Повторно нарушен критический SLA, утрачены права на данные или закрыт формат выгрузки. Прежний поставщик отдаёт историю и настройки, новый проходит контрольный пересчёт и период параллельной работы.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190488" y="3913632"/>
            <a:ext cx="5340096" cy="1828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83096" y="416966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315968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14616" y="42062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Восемь рисков, у каждого владелец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6483096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611112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данные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7726680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7854696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ложный сигнал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8970264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909828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поставщик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10213848" y="4901184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8" name="Text 31"/>
          <p:cNvSpPr txBox="1"/>
          <p:nvPr/>
        </p:nvSpPr>
        <p:spPr>
          <a:xfrm>
            <a:off x="10341864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внедрение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6483096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0" name="Text 33"/>
          <p:cNvSpPr txBox="1"/>
          <p:nvPr/>
        </p:nvSpPr>
        <p:spPr>
          <a:xfrm>
            <a:off x="6611112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7726680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2" name="Text 35"/>
          <p:cNvSpPr txBox="1"/>
          <p:nvPr/>
        </p:nvSpPr>
        <p:spPr>
          <a:xfrm>
            <a:off x="7854696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спрос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8970264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4" name="Text 37"/>
          <p:cNvSpPr txBox="1"/>
          <p:nvPr/>
        </p:nvSpPr>
        <p:spPr>
          <a:xfrm>
            <a:off x="9098280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платежи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10213848" y="5321808"/>
            <a:ext cx="1170432" cy="347472"/>
          </a:xfrm>
          <a:prstGeom prst="roundRect">
            <a:avLst>
              <a:gd name="adj" fmla="val 26316"/>
            </a:avLst>
          </a:prstGeom>
          <a:solidFill>
            <a:srgbClr val="E8F4EC"/>
          </a:solidFill>
          <a:ln w="12700">
            <a:solidFill>
              <a:srgbClr val="D5EADF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6" name="Text 39"/>
          <p:cNvSpPr txBox="1"/>
          <p:nvPr/>
        </p:nvSpPr>
        <p:spPr>
          <a:xfrm>
            <a:off x="10341864" y="5321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38767" y="63276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AAA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Запасной слайд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548640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1F1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Тираж без переделки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335024"/>
            <a:ext cx="9777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получает готовую основу.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C8E5D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304288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8249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4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Переносим как есть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87552" y="301752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2529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каталог сервисов и ролей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87552" y="3328416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2529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обработку данных и модель событий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87552" y="3639312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2529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интерфейсы и форматы выгрузки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87552" y="3950208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2529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доступ и журналирование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87552" y="4261104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25296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шаблоны SLA и договоров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987552" y="4572000"/>
            <a:ext cx="91440" cy="91440"/>
          </a:xfrm>
          <a:prstGeom prst="ellipse">
            <a:avLst/>
          </a:prstGeom>
          <a:solidFill>
            <a:srgbClr val="0F6F40"/>
          </a:solidFill>
          <a:ln w="12700">
            <a:solidFill>
              <a:srgbClr val="0F6F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25296" y="4480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методику KPI и базу знаний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190488" y="1920240"/>
            <a:ext cx="5340096" cy="29260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1E8E3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83096" y="2157984"/>
            <a:ext cx="603504" cy="603504"/>
          </a:xfrm>
          <a:prstGeom prst="ellipse">
            <a:avLst/>
          </a:prstGeom>
          <a:solidFill>
            <a:srgbClr val="E8F4EC"/>
          </a:solidFill>
          <a:ln w="12700">
            <a:solidFill>
              <a:srgbClr val="E3CFA6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304288"/>
            <a:ext cx="310896" cy="31089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14616" y="219456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762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Настраиваем на месте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519672" y="3017520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757416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 и сезонные пороги для пожаров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519672" y="3328416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757416" y="3236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зоны и типы событий для экологии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519672" y="3639312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757416" y="3547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поля, культуры и права хозяйств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519672" y="3950208"/>
            <a:ext cx="91440" cy="91440"/>
          </a:xfrm>
          <a:prstGeom prst="ellipse">
            <a:avLst/>
          </a:prstGeom>
          <a:solidFill>
            <a:srgbClr val="A9762B"/>
          </a:solidFill>
          <a:ln w="12700">
            <a:solidFill>
              <a:srgbClr val="A9762B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757416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51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объекты, маршруты и регламент реакции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658368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786384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регионе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 rot="5400000">
            <a:off x="4078224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25696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4553712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разбор и обновление ядра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 rot="5400000">
            <a:off x="7845552" y="5376672"/>
            <a:ext cx="182880" cy="182880"/>
          </a:xfrm>
          <a:prstGeom prst="triangle">
            <a:avLst/>
          </a:prstGeom>
          <a:solidFill>
            <a:srgbClr val="55B894"/>
          </a:solidFill>
          <a:ln w="12700">
            <a:solidFill>
              <a:srgbClr val="55B894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193024" y="5193792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8E5D5"/>
            </a:solidFill>
            <a:prstDash val="solid"/>
          </a:ln>
          <a:effectLst>
            <a:outerShdw sx="100000" sy="100000" kx="0" ky="0" algn="bl" rotWithShape="0" blurRad="177800" dist="38100" dir="5400000">
              <a:srgbClr val="0E1F16">
                <a:alpha val="10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8321040" y="5193792"/>
            <a:ext cx="303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4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регион по шаблону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Кейс 02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Космос как инфраструктура</dc:title>
  <dc:subject>PptxGenJS Presentation</dc:subject>
  <dc:creator>Команда «Молоток»</dc:creator>
  <cp:lastModifiedBy>Команда «Молоток»</cp:lastModifiedBy>
  <cp:revision>1</cp:revision>
  <dcterms:created xsi:type="dcterms:W3CDTF">2026-09-13T08:18:45Z</dcterms:created>
  <dcterms:modified xsi:type="dcterms:W3CDTF">2026-09-13T08:18:45Z</dcterms:modified>
</cp:coreProperties>
</file>