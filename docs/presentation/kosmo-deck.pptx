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подбираем региону портфель космических сервисов и сразу показываем, выдержит ли он ограничения кейса. На экране наш выбор: пожары Сибири, экология Волго-Каспия, поля Юга, транспорт Центра. Старт 1 140 миллионов, общественная польза 1 289 миллионов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Региону нужен не снимок, а решение: где событие, насколько ему верить и что делать дальше. Поэтому мы предлагаем портфель целиком. Общественные сервисы держат смысл, прикладные приносят деньги. Правила для всех четырёх общие: единый оператор, открытые форматы, права на историю данных остаются у заказчика.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сервис заканчивается действием человека. Пожары в Сибири — проверить сигнал. Экология Волго-Каспия — назначить инспекцию. Поля Юга — обследовать участок. Транспорт Центра — изменить план. Первые два общедоступны для органов, вторые два дают заказчику общую картину, а детализацию покупают те, кому она нужна.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Всего портфелей 5 670. Условия кейса при урезанном бюджете проходят 143, и каждая точка здесь — один из них. Золотая точка — первый по баллу модели, зелёная — наш выбор. Первый дешевле, но переводит поля и транспорт в коммерческий режим и срезает общедоступную часть. Наш даёт на 90 миллионов больше пользы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1 140: 630 миллионов бюджет за общественные сервисы и 510 частный партнёр за поля и транспорт. В год приходит 370,5, содержание стоит 313, остаётся 57,5. Если бюджет урежут до 1 180, мы проходим с запасом 40 и состав не меняем. Если коммерческого спроса не будет совсем, не хватит ста двадцати трёх миллионов в год. Мы говорим об этом 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заказчики и договоры. Потом пилоты по пожарам и экологии, разбор пилотов и обновление ядра, запуск полей и транспорта, тираж в новые регионы. Оператор один и отвечает за сервис целиком, поставщика можно заменить, ядро переносится в следующий регион без переделки.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Слайды закончились, дальше показываем инструмент. Соберём портфель, сломаем его заменой лота, увидим, какое условие нарушено, и вернём обратно.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лота из восьми, каждый в одном из трёх режимов доступа: 5 670 возможных портфелей, 143 проходят условия при урезанном бюджете. В интерфейсе можно заменить любой лот, переключить сценарий бюджета и выгрузить результат в формате организаторов.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условий инструмент проверяет сам и по каждому показывает факт, предел и остаток. Узкое место одно — стартовые затраты при урезанном бюджете, там остаётся 40 миллионов, около трёх процентов лимита.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Заказчик держит стандарты, права на историю данных и правила доступа. Оператор отвечает за сквозной сервис. Поставщики конкурируют за отдельные компоненты. Смена поставщика прописана заранее: повторное нарушение критического SLA, утрата прав на данные или закрытый формат выгрузки. Рисков восемь, у каждого есть ранний признак, мера и владелец.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Переносится каталог сервисов, обработка данных, интерфейсы, механизмы доступа, шаблоны договоров и методика KPI. Настраиваются границы и сезонные пороги, зоны событий, поля и маршруты. Опыт передаётся циклом: пилот, разбор, обновление ядра, следующий регион по шаблону.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8368" y="1371600"/>
            <a:ext cx="8595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Космос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инфраструктура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658368" y="3547872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86384" y="3547872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2322576" y="3547872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2450592" y="3547872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986784" y="3547872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114800" y="3547872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50992" y="3547872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779008" y="3547872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484632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96112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" y="5413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456432" y="484632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694176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3694176" y="5413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54496" y="484632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492240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5413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поступления, млн ₽ в год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052560" y="484632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90304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290304" y="5413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запас, млн ₽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58368" y="614476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«Молоток». Голубев Павел, Петр Кузнецов, Тимофей Максимов, Лихатин Андрей, Потапенко Филипп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 покупает результат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58368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9264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368296"/>
            <a:ext cx="347472" cy="347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Готовый ответ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69264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ответ вместо снимков: где событие, насколько ему верить и что делать дальше.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48886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59782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518" y="236829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59782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целиком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59782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 в разных регионах. Общественные держат смысл, прикладные приносят деньги.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39405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50301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368296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0301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Общие правила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350301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оператор, открытые форматы, права на историю данных остаются у заказчика.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58368" y="4480560"/>
            <a:ext cx="1087495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1042416" y="470001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сохраняет контроль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1042416" y="5120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 и правила доступа остаются у него. Поставщики конкурируют за отдельные части услуги и заменяются без остановки сервиса. Следующий регион получает то же ядро и настраивает его под себя.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сервиса. Четыре региона.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58368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313432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Сибирь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2688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32688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Лесные и диспетчерские службы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32688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проверить сигнал</a:t>
            </a:r>
            <a:endParaRPr lang="en-US" sz="12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4553712"/>
            <a:ext cx="2039112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32688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проверки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461004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735324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60" y="231343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35324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735324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Волго-Каспий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735324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3735324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Природоохранный орган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735324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назначить инспекцию</a:t>
            </a:r>
            <a:endParaRPr lang="en-US" sz="12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324" y="4553712"/>
            <a:ext cx="2039112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735324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подтверждённых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263640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537960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2313432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537960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6537960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Юг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537960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537960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Хозяйства и органы АПК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537960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обследовать участок</a:t>
            </a:r>
            <a:endParaRPr lang="en-US" sz="125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553712"/>
            <a:ext cx="2039112" cy="365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537960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сигнал с действием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9066276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9340596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4332" y="2313432"/>
            <a:ext cx="365760" cy="3657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40596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9340596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9340596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9340596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Операторы и перевозчики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9340596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изменить план</a:t>
            </a:r>
            <a:endParaRPr lang="en-US" sz="1250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553712"/>
            <a:ext cx="2039112" cy="36576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340596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решения</a:t>
            </a:r>
            <a:endParaRPr lang="en-US" sz="1100" dirty="0"/>
          </a:p>
        </p:txBody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5285232"/>
            <a:ext cx="5340096" cy="603504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95097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 и ENV — общедоступная основа для органов</a:t>
            </a:r>
            <a:endParaRPr lang="en-US" sz="1250" dirty="0"/>
          </a:p>
        </p:txBody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0488" y="5285232"/>
            <a:ext cx="5340096" cy="603504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648309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 и TRANS — якорный слой и платная детализация</a:t>
            </a:r>
            <a:endParaRPr lang="en-US" sz="1250" dirty="0"/>
          </a:p>
        </p:txBody>
      </p:sp>
      <p:sp>
        <p:nvSpPr>
          <p:cNvPr id="47" name="Text 35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важнее максимума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58368" y="1883664"/>
            <a:ext cx="7406640" cy="3986784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81328" y="5230368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512064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1 000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481328" y="4494276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43845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1 100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481328" y="3758184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648456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1 200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481328" y="3022092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12364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481328" y="2286000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176272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1 400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2148840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1 130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136392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123944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1 150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111496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1 160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099048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1 170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94944" y="19933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55595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06640" y="2212848"/>
            <a:ext cx="12802" cy="3017520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88736" y="1920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предел 1 180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01757" y="34005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21508" y="33857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53624" y="35860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67151" y="32474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00595" y="411599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6529" y="32341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22753" y="355804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14122" y="37773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6197" y="31090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6114" y="38510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49724" y="27704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63500" y="37641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69724" y="40880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69641" y="35124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75616" y="31060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99102" y="2757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81840" y="34299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05326" y="30810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19018" y="34991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25242" y="38230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9143" y="27674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95367" y="30913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27483" y="32915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50969" y="29426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70886" y="368464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341010" y="29529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274454" y="3821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390388" y="293972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97940" y="34726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96612" y="326360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17856" y="42146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24080" y="46754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87981" y="348295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82089" y="508175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33542" y="24656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10056" y="28145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37608" y="43368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378354" y="49757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31218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353458" y="3207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23583" y="247598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37359" y="34697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343583" y="37935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131466" y="506850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44745" y="3270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486985" y="432357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993209" y="46474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30222" y="516124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772961" y="246273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79185" y="27866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094122" y="32577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00346" y="35815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338852" y="450907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279599" y="514799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24828" y="264823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945990" y="34432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099267" y="50228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785823" y="503905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612794" y="46842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071799" y="31782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392960" y="39731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365906" y="47770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721425" y="4032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662172" y="46710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168396" y="49948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859682" y="44928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328562" y="2966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16280" y="39481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373209" y="41542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12546" y="3842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770" y="416605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103998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514039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29807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26073" y="35035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32297" y="382745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22587" y="41410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617525" y="4051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928811" y="44649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79185" y="3596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785409" y="3920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6903" y="40379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173127" y="43618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246986" y="34049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274454" y="432652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43666" y="51789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938687" y="50199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896612" y="43795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452214" y="4681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057193" y="48403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958438" y="5005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721425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246986" y="355067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106570" y="48270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612794" y="51509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666903" y="4292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304081" y="48668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657027" y="38495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80430" y="39540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039600" y="37965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353458" y="485356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958438" y="50125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859682" y="51774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933542" y="40468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316114" y="35227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901343" y="37464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177857" y="40953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229807" y="39408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736031" y="426468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21259" y="44884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173127" y="47284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86654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246986" y="40674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736031" y="437657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41010" y="45355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242255" y="470045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034869" y="5117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689226" y="503611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587898" y="45620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548396" y="477848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39600" y="42072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301508" y="48712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597774" y="476523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103998" y="50891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177857" y="41321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5034869" y="50920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763085" y="4355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6363" y="42470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6970471" y="408508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08728" y="41793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6970471" y="452379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832214" y="447373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970471" y="493453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256861" y="43059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237110" y="46886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039600" y="4906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7108728" y="48226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276612" y="46297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177857" y="47946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3117" y="3669533"/>
            <a:ext cx="192024" cy="192024"/>
          </a:xfrm>
          <a:prstGeom prst="ellipse">
            <a:avLst/>
          </a:prstGeom>
          <a:solidFill>
            <a:srgbClr val="A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2595433" y="4003289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по баллу</a:t>
            </a:r>
            <a:endParaRPr lang="en-US" sz="950" dirty="0"/>
          </a:p>
        </p:txBody>
      </p:sp>
      <p:sp>
        <p:nvSpPr>
          <p:cNvPr id="166" name="Shape 164"/>
          <p:cNvSpPr/>
          <p:nvPr/>
        </p:nvSpPr>
        <p:spPr>
          <a:xfrm>
            <a:off x="3360420" y="3007050"/>
            <a:ext cx="192024" cy="192024"/>
          </a:xfrm>
          <a:prstGeom prst="ellipse">
            <a:avLst/>
          </a:prstGeom>
          <a:solidFill>
            <a:srgbClr val="0B4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2560320" y="300247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выбор</a:t>
            </a:r>
            <a:endParaRPr lang="en-US" sz="950" dirty="0"/>
          </a:p>
        </p:txBody>
      </p:sp>
      <p:sp>
        <p:nvSpPr>
          <p:cNvPr id="168" name="Shape 166"/>
          <p:cNvSpPr/>
          <p:nvPr/>
        </p:nvSpPr>
        <p:spPr>
          <a:xfrm>
            <a:off x="8284464" y="1883664"/>
            <a:ext cx="3246120" cy="3986784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69" name="Text 167"/>
          <p:cNvSpPr txBox="1"/>
          <p:nvPr/>
        </p:nvSpPr>
        <p:spPr>
          <a:xfrm>
            <a:off x="8577072" y="21214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этот</a:t>
            </a:r>
            <a:endParaRPr lang="en-US" sz="1600" dirty="0"/>
          </a:p>
        </p:txBody>
      </p:sp>
      <p:sp>
        <p:nvSpPr>
          <p:cNvPr id="170" name="Shape 168"/>
          <p:cNvSpPr/>
          <p:nvPr/>
        </p:nvSpPr>
        <p:spPr>
          <a:xfrm>
            <a:off x="8595360" y="2688336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8851392" y="2596896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Больше общественной пользы, чем у дешёвых вариантов</a:t>
            </a:r>
            <a:endParaRPr lang="en-US" sz="1150" dirty="0"/>
          </a:p>
        </p:txBody>
      </p:sp>
      <p:sp>
        <p:nvSpPr>
          <p:cNvPr id="172" name="Shape 170"/>
          <p:cNvSpPr/>
          <p:nvPr/>
        </p:nvSpPr>
        <p:spPr>
          <a:xfrm>
            <a:off x="8595360" y="3310128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851392" y="3218688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Денег хватает на содержание всех четырёх сервисов</a:t>
            </a:r>
            <a:endParaRPr lang="en-US" sz="1150" dirty="0"/>
          </a:p>
        </p:txBody>
      </p:sp>
      <p:sp>
        <p:nvSpPr>
          <p:cNvPr id="174" name="Shape 172"/>
          <p:cNvSpPr/>
          <p:nvPr/>
        </p:nvSpPr>
        <p:spPr>
          <a:xfrm>
            <a:off x="8595360" y="3931920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8851392" y="384048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Остаётся запас, если бюджет урежут</a:t>
            </a:r>
            <a:endParaRPr lang="en-US" sz="1150" dirty="0"/>
          </a:p>
        </p:txBody>
      </p:sp>
      <p:pic>
        <p:nvPicPr>
          <p:cNvPr id="17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2" y="4517136"/>
            <a:ext cx="2651760" cy="512064"/>
          </a:xfrm>
          <a:prstGeom prst="rect">
            <a:avLst/>
          </a:prstGeom>
        </p:spPr>
      </p:pic>
      <p:sp>
        <p:nvSpPr>
          <p:cNvPr id="177" name="Text 174"/>
          <p:cNvSpPr txBox="1"/>
          <p:nvPr/>
        </p:nvSpPr>
        <p:spPr>
          <a:xfrm>
            <a:off x="8741664" y="45171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+90 млн ₽ пользы в год</a:t>
            </a:r>
            <a:endParaRPr lang="en-US" sz="1350" dirty="0"/>
          </a:p>
        </p:txBody>
      </p:sp>
      <p:sp>
        <p:nvSpPr>
          <p:cNvPr id="178" name="Text 175"/>
          <p:cNvSpPr txBox="1"/>
          <p:nvPr/>
        </p:nvSpPr>
        <p:spPr>
          <a:xfrm>
            <a:off x="8577072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сравнению с первым по баллу: он дешевле, но срезает общедоступную часть услуги.</a:t>
            </a:r>
            <a:endParaRPr lang="en-US" sz="1100" dirty="0"/>
          </a:p>
        </p:txBody>
      </p:sp>
      <p:sp>
        <p:nvSpPr>
          <p:cNvPr id="179" name="Text 17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Деньги сходятся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58368" y="1883664"/>
            <a:ext cx="640080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3116660" cy="82296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364" y="2468880"/>
            <a:ext cx="2534332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61872" y="24688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630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433396" y="24688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00584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за FIRE и ENV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177364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 за AGRI и TRANS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370064" y="1883664"/>
            <a:ext cx="416052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717536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Год, млн ₽</a:t>
            </a:r>
            <a:endParaRPr lang="en-US" sz="12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6" y="2743200"/>
            <a:ext cx="1042416" cy="10424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607808" y="239572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516368" y="3877056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</a:t>
            </a:r>
            <a:endParaRPr lang="en-US" sz="10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904978"/>
            <a:ext cx="1042416" cy="8806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887968" y="255750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796528" y="3877056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</a:t>
            </a:r>
            <a:endParaRPr lang="en-US" sz="10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2688336"/>
            <a:ext cx="1005840" cy="10058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277856" y="296265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+57,5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658368" y="4370832"/>
            <a:ext cx="10874959" cy="1591056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1024128" y="45537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бюджет урежут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1024128" y="4974336"/>
            <a:ext cx="10140696" cy="512064"/>
          </a:xfrm>
          <a:prstGeom prst="roundRect">
            <a:avLst>
              <a:gd name="adj" fmla="val 14286"/>
            </a:avLst>
          </a:prstGeom>
          <a:solidFill>
            <a:srgbClr val="EDF3EF"/>
          </a:solidFill>
          <a:ln w="12700">
            <a:solidFill>
              <a:srgbClr val="E4EDE7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4974336"/>
            <a:ext cx="8892610" cy="512064"/>
          </a:xfrm>
          <a:prstGeom prst="rect">
            <a:avLst/>
          </a:prstGeom>
        </p:spPr>
      </p:pic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5026" y="4974336"/>
            <a:ext cx="293733" cy="51206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261872" y="49743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 1 140</a:t>
            </a:r>
            <a:endParaRPr lang="en-US" sz="1400" dirty="0"/>
          </a:p>
        </p:txBody>
      </p:sp>
      <p:sp>
        <p:nvSpPr>
          <p:cNvPr id="27" name="Shape 18"/>
          <p:cNvSpPr/>
          <p:nvPr/>
        </p:nvSpPr>
        <p:spPr>
          <a:xfrm>
            <a:off x="10228760" y="4828032"/>
            <a:ext cx="12802" cy="804672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8454824" y="45720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урезанный бюджет 1 180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11164824" y="4828032"/>
            <a:ext cx="12802" cy="804672"/>
          </a:xfrm>
          <a:prstGeom prst="rect">
            <a:avLst/>
          </a:prstGeom>
          <a:solidFill>
            <a:srgbClr val="8D9E95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10744200" y="4572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D9E9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1000" dirty="0"/>
          </a:p>
        </p:txBody>
      </p:sp>
      <p:sp>
        <p:nvSpPr>
          <p:cNvPr id="31" name="Text 22"/>
          <p:cNvSpPr txBox="1"/>
          <p:nvPr/>
        </p:nvSpPr>
        <p:spPr>
          <a:xfrm>
            <a:off x="1024128" y="5614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 млн ₽</a:t>
            </a:r>
            <a:endParaRPr lang="en-US" sz="1100" dirty="0"/>
          </a:p>
        </p:txBody>
      </p:sp>
      <p:sp>
        <p:nvSpPr>
          <p:cNvPr id="32" name="Text 23"/>
          <p:cNvSpPr txBox="1"/>
          <p:nvPr/>
        </p:nvSpPr>
        <p:spPr>
          <a:xfrm>
            <a:off x="3858768" y="56144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коммерческой выручки не хватит 123 млн ₽ в год, покрывать придётся заказчику.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Пять шагов до 2033 года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024128" y="3035808"/>
            <a:ext cx="10143439" cy="10973"/>
          </a:xfrm>
          <a:prstGeom prst="rect">
            <a:avLst/>
          </a:prstGeom>
          <a:solidFill>
            <a:srgbClr val="DCE7E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2027, первое полугодие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6304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37490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Заказчики и договоры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89864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2027–2028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0332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033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89864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374904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04495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Пилоты по пожарам и экологии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04495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2028, второе полугодие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94360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9436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13892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74904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8523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пилотов и обновление ядра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28523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737920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2029–2030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18388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18388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737920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749040"/>
            <a:ext cx="274320" cy="2743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52551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полей и транспорта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752551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961948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2031–2033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1042416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042416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50" dirty="0"/>
          </a:p>
        </p:txBody>
      </p:sp>
      <p:sp>
        <p:nvSpPr>
          <p:cNvPr id="35" name="Shape 29"/>
          <p:cNvSpPr/>
          <p:nvPr/>
        </p:nvSpPr>
        <p:spPr>
          <a:xfrm>
            <a:off x="961948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0" y="3749040"/>
            <a:ext cx="274320" cy="274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976579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в новые регионы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976579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5687568"/>
            <a:ext cx="219456" cy="21945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353312" y="54681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один</a:t>
            </a:r>
            <a:endParaRPr lang="en-US" sz="1200" dirty="0"/>
          </a:p>
        </p:txBody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576" y="5687568"/>
            <a:ext cx="219456" cy="219456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4919472" y="54681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Поставщика можно заменить</a:t>
            </a:r>
            <a:endParaRPr lang="en-US" sz="1200" dirty="0"/>
          </a:p>
        </p:txBody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4736" y="5687568"/>
            <a:ext cx="219456" cy="219456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485632" y="54681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 переносится в новый регион</a:t>
            </a:r>
            <a:endParaRPr lang="en-US" sz="1200" dirty="0"/>
          </a:p>
        </p:txBody>
      </p:sp>
      <p:sp>
        <p:nvSpPr>
          <p:cNvPr id="46" name="Text 3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1042416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Дальше — живая демонстрация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4315968" y="2267712"/>
            <a:ext cx="3566160" cy="3566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551176"/>
            <a:ext cx="2999232" cy="2999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0" y="6016752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cosmo.arbuz.lol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собирается за минуту</a:t>
            </a:r>
            <a:endParaRPr lang="en-US" sz="4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75104"/>
            <a:ext cx="6766560" cy="8046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50976" y="197510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5 670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699248" y="1975104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портфелей вообще можно собрать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 rot="10800000">
            <a:off x="1371600" y="281635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35808"/>
            <a:ext cx="3931920" cy="8046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303580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4864608" y="3035808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остаётся, если держать условия кейса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 rot="10800000">
            <a:off x="1371600" y="3877056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96512"/>
            <a:ext cx="2103120" cy="8046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0976" y="409651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3035808" y="4096512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тот, который мы предлагаем региону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58368" y="5230368"/>
            <a:ext cx="10874959" cy="841248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69264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25296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открыть портфель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 rot="5400000">
            <a:off x="2852928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090672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346704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переключить бюджет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 rot="5400000">
            <a:off x="4974336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212080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5468112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заменить лот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 rot="5400000">
            <a:off x="7095744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333488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589520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увидеть, что сломалось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 rot="5400000">
            <a:off x="9217152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454896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9710928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вернуть обратно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Девять условий кейса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89988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лота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 ровно столько и нужно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67558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8886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86630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498" y="2189988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43830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Территории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43830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при минимуме 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43830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043830" y="2688336"/>
            <a:ext cx="1039673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58077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1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39405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77149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017" y="2189988"/>
            <a:ext cx="173736" cy="1737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734349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группы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734349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0248595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58368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96112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3506724"/>
            <a:ext cx="173736" cy="17373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353312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Общедоступные сервисы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1353312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2867558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4348886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586630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498" y="3506724"/>
            <a:ext cx="173736" cy="173736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5043830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Стартовые затраты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5043830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 при пределе 1 180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5043830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5043830" y="4005072"/>
            <a:ext cx="1339240" cy="109728"/>
          </a:xfrm>
          <a:prstGeom prst="roundRect">
            <a:avLst>
              <a:gd name="adj" fmla="val 50000"/>
            </a:avLst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558077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8039405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8277149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4017" y="3506724"/>
            <a:ext cx="173736" cy="173736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8734349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 в год</a:t>
            </a:r>
            <a:endParaRPr lang="en-US" sz="1200" dirty="0"/>
          </a:p>
        </p:txBody>
      </p:sp>
      <p:sp>
        <p:nvSpPr>
          <p:cNvPr id="48" name="Text 40"/>
          <p:cNvSpPr txBox="1"/>
          <p:nvPr/>
        </p:nvSpPr>
        <p:spPr>
          <a:xfrm>
            <a:off x="8734349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 при пределе 360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8734349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8734349" y="4005072"/>
            <a:ext cx="120525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10248595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47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658368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3" name="Shape 45"/>
          <p:cNvSpPr/>
          <p:nvPr/>
        </p:nvSpPr>
        <p:spPr>
          <a:xfrm>
            <a:off x="896112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823460"/>
            <a:ext cx="173736" cy="173736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1353312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</a:t>
            </a:r>
            <a:endParaRPr lang="en-US" sz="1200" dirty="0"/>
          </a:p>
        </p:txBody>
      </p:sp>
      <p:sp>
        <p:nvSpPr>
          <p:cNvPr id="56" name="Text 47"/>
          <p:cNvSpPr txBox="1"/>
          <p:nvPr/>
        </p:nvSpPr>
        <p:spPr>
          <a:xfrm>
            <a:off x="1353312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 при минимуме 1 000</a:t>
            </a:r>
            <a:endParaRPr lang="en-US" sz="1100" dirty="0"/>
          </a:p>
        </p:txBody>
      </p:sp>
      <p:sp>
        <p:nvSpPr>
          <p:cNvPr id="57" name="Shape 48"/>
          <p:cNvSpPr/>
          <p:nvPr/>
        </p:nvSpPr>
        <p:spPr>
          <a:xfrm>
            <a:off x="1353312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1353312" y="5321808"/>
            <a:ext cx="1075431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867558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289</a:t>
            </a:r>
            <a:endParaRPr lang="en-US" sz="950" dirty="0"/>
          </a:p>
        </p:txBody>
      </p:sp>
      <p:sp>
        <p:nvSpPr>
          <p:cNvPr id="60" name="Shape 51"/>
          <p:cNvSpPr/>
          <p:nvPr/>
        </p:nvSpPr>
        <p:spPr>
          <a:xfrm>
            <a:off x="4348886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4586630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3498" y="4823460"/>
            <a:ext cx="173736" cy="173736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5043830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200" dirty="0"/>
          </a:p>
        </p:txBody>
      </p:sp>
      <p:sp>
        <p:nvSpPr>
          <p:cNvPr id="64" name="Text 54"/>
          <p:cNvSpPr txBox="1"/>
          <p:nvPr/>
        </p:nvSpPr>
        <p:spPr>
          <a:xfrm>
            <a:off x="5043830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 при минимуме 0,60</a:t>
            </a:r>
            <a:endParaRPr lang="en-US" sz="1100" dirty="0"/>
          </a:p>
        </p:txBody>
      </p:sp>
      <p:sp>
        <p:nvSpPr>
          <p:cNvPr id="65" name="Shape 55"/>
          <p:cNvSpPr/>
          <p:nvPr/>
        </p:nvSpPr>
        <p:spPr>
          <a:xfrm>
            <a:off x="5043830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5043830" y="5321808"/>
            <a:ext cx="70265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6558077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0,58</a:t>
            </a:r>
            <a:endParaRPr lang="en-US" sz="950" dirty="0"/>
          </a:p>
        </p:txBody>
      </p:sp>
      <p:sp>
        <p:nvSpPr>
          <p:cNvPr id="68" name="Shape 58"/>
          <p:cNvSpPr/>
          <p:nvPr/>
        </p:nvSpPr>
        <p:spPr>
          <a:xfrm>
            <a:off x="8039405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9" name="Shape 59"/>
          <p:cNvSpPr/>
          <p:nvPr/>
        </p:nvSpPr>
        <p:spPr>
          <a:xfrm>
            <a:off x="8277149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4017" y="4823460"/>
            <a:ext cx="173736" cy="173736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8734349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Тиражируемость</a:t>
            </a:r>
            <a:endParaRPr lang="en-US" sz="1200" dirty="0"/>
          </a:p>
        </p:txBody>
      </p:sp>
      <p:sp>
        <p:nvSpPr>
          <p:cNvPr id="72" name="Text 61"/>
          <p:cNvSpPr txBox="1"/>
          <p:nvPr/>
        </p:nvSpPr>
        <p:spPr>
          <a:xfrm>
            <a:off x="8734349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0,73 при минимуме 0,63</a:t>
            </a:r>
            <a:endParaRPr lang="en-US" sz="1100" dirty="0"/>
          </a:p>
        </p:txBody>
      </p:sp>
      <p:sp>
        <p:nvSpPr>
          <p:cNvPr id="73" name="Shape 62"/>
          <p:cNvSpPr/>
          <p:nvPr/>
        </p:nvSpPr>
        <p:spPr>
          <a:xfrm>
            <a:off x="8734349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74" name="Shape 63"/>
          <p:cNvSpPr/>
          <p:nvPr/>
        </p:nvSpPr>
        <p:spPr>
          <a:xfrm>
            <a:off x="8734349" y="5321808"/>
            <a:ext cx="119633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10248595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0,10</a:t>
            </a:r>
            <a:endParaRPr lang="en-US" sz="950" dirty="0"/>
          </a:p>
        </p:txBody>
      </p:sp>
      <p:pic>
        <p:nvPicPr>
          <p:cNvPr id="7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5797296"/>
            <a:ext cx="6309360" cy="493776"/>
          </a:xfrm>
          <a:prstGeom prst="rect">
            <a:avLst/>
          </a:prstGeom>
        </p:spPr>
      </p:pic>
      <p:sp>
        <p:nvSpPr>
          <p:cNvPr id="77" name="Text 65"/>
          <p:cNvSpPr txBox="1"/>
          <p:nvPr/>
        </p:nvSpPr>
        <p:spPr>
          <a:xfrm>
            <a:off x="914400" y="579729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Тоньше всего запас по старту при урезанном бюджете: 40 млн ₽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за что отвечает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304288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данных, правила доступа и приёмка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 rot="5400000">
            <a:off x="416966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9884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7316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304288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0468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7316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сервис, SLA, журналы, интеграции и поддержка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 rot="5400000">
            <a:off x="801014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3932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1364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34516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61364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отдельные компоненты и периоды услуги, конкурируют между собой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5836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5097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1596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82496" y="42062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Когда меняем поставщика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950976" y="490118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Повторно нарушен критический SLA, утрачены права на данные или закрыт формат выгрузки. Прежний поставщик отдаёт историю и настройки, новый проходит контрольный пересчёт и период параллельной работы.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19048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8309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315968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214616" y="4206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Восемь рисков, у каждого владелец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483096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6611112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7726680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7854696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ложный сигнал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8970264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909828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10213848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Text 30"/>
          <p:cNvSpPr txBox="1"/>
          <p:nvPr/>
        </p:nvSpPr>
        <p:spPr>
          <a:xfrm>
            <a:off x="10341864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483096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6611112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7726680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1" name="Text 34"/>
          <p:cNvSpPr txBox="1"/>
          <p:nvPr/>
        </p:nvSpPr>
        <p:spPr>
          <a:xfrm>
            <a:off x="7854696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970264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9098280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10213848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5" name="Text 38"/>
          <p:cNvSpPr txBox="1"/>
          <p:nvPr/>
        </p:nvSpPr>
        <p:spPr>
          <a:xfrm>
            <a:off x="10341864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749808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без переделки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304288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8249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Переносим как есть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87552" y="301752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2529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каталог сервисов и ролей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87552" y="3328416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2529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обработку данных и модель событий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87552" y="3639312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2529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 и форматы выгрузки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87552" y="3950208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2529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 и журналирование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87552" y="4261104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25296" y="4169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шаблоны SLA и договоров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87552" y="457200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25296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методику KPI и базу знаний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048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8309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21461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Настраиваем на месте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6519672" y="3017520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75741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границы и сезонные пороги для пожаров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519672" y="3328416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75741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и типы событий для экологии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519672" y="3639312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75741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поля, культуры и права хозяйств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519672" y="3950208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5741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объекты, маршруты и регламент реакции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58368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786384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в регионе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 rot="5400000">
            <a:off x="4078224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425696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4553712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и обновление ядра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 rot="5400000">
            <a:off x="7845552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193024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8321040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 шаблону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Кейс 02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Космос как инфраструктура</dc:title>
  <dc:subject>PptxGenJS Presentation</dc:subject>
  <dc:creator>Команда «Молоток»</dc:creator>
  <cp:lastModifiedBy>Команда «Молоток»</cp:lastModifiedBy>
  <cp:revision>1</cp:revision>
  <dcterms:created xsi:type="dcterms:W3CDTF">2026-09-13T08:24:08Z</dcterms:created>
  <dcterms:modified xsi:type="dcterms:W3CDTF">2026-09-13T08:24:08Z</dcterms:modified>
</cp:coreProperties>
</file>