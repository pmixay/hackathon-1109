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решали кейс «Космос как инфраструктура» и сразу скажем главное: мы собрали не расчёт одной комбинации, а инструмент, который подбирает региону портфель космических сервисов. На экране наш портфель: пожары в Сибири, экология Волго-Каспия, поля Юга, транспорт Центра. Старт стоит 1 140 миллионов рублей, общественная польза 1 289 миллионов в год, поступления 370,5. По QR-коду инструмент открывается прямо сейчас, с любого телефона.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 простая: региону нужен не снимок, а решение. Снимок сам по себе ничего не меняет, действует человек — лесник, инспектор, агроном, диспетчер. Поэтому каждый наш сервис описан через действие, которое он вызывает. Второе: мы предлагаем портфель, а не отдельный лот. Общественные сервисы отвечают за смысл, прикладные приносят деньги, и вместе они держатся. Третье: правила для всех четырёх сервисов общие. Один оператор, открытые форматы, права на историю данных остаются у заказчика.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Пожары в Сибири: служба видит очаги и решает, что проверять первым. Меряем время от сигнала до проверки. Экология Волго-Каспия: инспекция получает приоритет обхода. Меряем долю подтверждённых сигналов. Поля Юга: хозяйство находит участок с отклонением. Меряем долю сигналов, по которым что-то сделали. Транспорт Центра: оператор видит отклонение на маршруте и меняет план. Меряем время до решения. Первые два сервиса работают в режиме A и остаются общедоступной основой для органов. Поля и транспорт в режиме B: заказчик получает общую картину, а детализацию покупают те, кому она нужна. Плательщиков мы называем честно как предположение: подтверждённых контрактов у нас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лота из восьми, каждый в одном из трёх режимов доступа. Всего получается 5 670 возможных портфелей. Если держать условия кейса при урезанном бюджете, остаётся 143. Из них мы и выбирали. Это не разовый расчёт. Внизу слайда — то, что мы покажем живьём: открыть портфель, переключить бюджет на урезанный, заменить лот, увидеть, какое условие сломалось, вернуть портфель обратно. Результат выгружается в формате организаторов.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горизонтали стартовые затраты, по вертикали общественная польза. Красная черта — предел бюджета в стрессовом сценарии. Золотая точка — вариант, который модель ставит первым, зелёная — наш. Мы сознательно взяли не первый по баллу. Он экономит деньги за счёт того, что переводит поля и транспорт в чисто коммерческий режим, а это срезает общедоступную часть услуги. Наш вариант даёт на 90 миллионов больше общественной пользы в год и стоит третьим из 143 по баллу модели. Веса критериев мы зафиксировали до того, как увидели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Девять условий кейса инструмент проверяет сам и по каждому показывает факт, предел и остаток. Это важнее зелёной галочки: эксперт сразу видит, где мы у самой границы. Граница у нас одна — стартовые затраты при урезанном бюджете, там остаётся 40 миллионов, около трёх процентов лимита. Этот запас мы держим под уточнение смет и интеграций.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Старт стоит 1 140 миллионов и делится на два контура: 630 миллионов бюджет за общественные сервисы и 510 миллионов частный партнёр за поля и транспорт. В год приходит 370,5, содержание стоит 313, остаётся 57,5 миллионов. За семь лет частный партнёр вложенное не возвращает, поэтому мы закладываем десятилетний срок партнёрства без капитального гранта. И сразу говорим главное ограничение: коммерческая выручка пока гипотеза, её проверяют пилот и тарифный тест.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стрессовом сценарии меняется только предел стартовых затрат: 1 300 становится 1 180. Наш старт 1 140, поэтому мы проходим и состав не трогаем. Это важно организационно: не нужно заново собирать согласования по пользователям, доступу и договорам. Отдельно мы проверили худший коммерческий случай, когда платного спроса нет совсем. Формально порог держится, но дыра в 123 миллиона в год реальная, и закрывать её пришлось бы заказчику. Мы говорим об этом сами, до вопроса жюри.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простая. Заказчик держит стандарты, права на историю данных и правила доступа. Оператор отвечает за сквозной сервис: доступ, SLA, журналы, интеграции и поддержку. Поставщики конкурируют за отдельные компоненты, поэтому мы не привязаны к одному подрядчику. Смена поставщика прописана заранее: повторное нарушение критического SLA, утрата прав на данные или закрытый формат выгрузки. Прежний поставщик отдаёт историю и настройки, новый проходит контрольный пересчёт и период параллельной работы. Рисков восемь, у каждого есть ранний признак, мера и владелец.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заранее разделили то, что переносится между регионами, и то, что настраивается на месте. Переносится каталог сервисов, обработка данных, модель событий, интерфейсы, механизмы доступа, шаблоны договоров и методика KPI. Настраиваются границы и сезонные пороги, зоны событий, поля и права хозяйств, объекты и маршруты. Опыт передаётся циклом: пилот, разбор, обновление общего ядра, следующий регион уже по шаблону.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подтверждаем заказчиков, финансирование и SLA. Потом два пилота, пожары и экология: они проверяют весь операторский контур на общественных сервисах. Третий шаг обычно забывают, а он ключевой: разобрать пилоты и обновить общее ядро. Только после этого подключаем поля и транспорт, где нужно проверять коммерческий спрос. С 2031 года тираж в новые регионы. Календарные сроки — наше допущение, кейс их не задаёт.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этом заканчиваем и переходим к показу. Инструмент открыт по ссылке на экране, код можно снять прямо сейчас. Регион получает четыре работающих сервиса, понятные правила и запас на случай урезанного бюджета.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8368" y="1298448"/>
            <a:ext cx="8595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Космос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инфраструктура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36758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работающих сервиса для региона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58368" y="4315968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6384" y="4315968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FIRE-A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322576" y="4315968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450592" y="4315968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ENV-A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986784" y="4315968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114800" y="4315968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AGRI-B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50992" y="4315968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779008" y="4315968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TRANS-B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58368" y="502920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96112" y="51572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5596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456432" y="502920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3694176" y="51572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1 289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3694176" y="5596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польза, млн ₽ в год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254496" y="502920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492240" y="51572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370,5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5596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поступления, млн ₽ в год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052560" y="502920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9290304" y="51572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9290304" y="5596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запас, млн ₽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58368" y="623620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«Молоток». Голубев Павел, Петр Кузнецов, Тимофей Максимов, Лихатин Андрей, Потапенко Филипп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 покупает результат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Космический сервис полезен там, где он заканчивается решением человека.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920240"/>
            <a:ext cx="348935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2194560"/>
            <a:ext cx="694944" cy="69494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368296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9264" y="3035808"/>
            <a:ext cx="2867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Готовый ответ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9264" y="3401568"/>
            <a:ext cx="28675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ответ вместо снимков: где событие, насколько ему верить и что делать дальше.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8886" y="1920240"/>
            <a:ext cx="348935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59782" y="2194560"/>
            <a:ext cx="694944" cy="69494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518" y="2368296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59782" y="3035808"/>
            <a:ext cx="2867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 целиком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659782" y="3401568"/>
            <a:ext cx="28675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сервиса в разных регионах. Общественные держат смысл, прикладные приносят деньги.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39405" y="1920240"/>
            <a:ext cx="348935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50301" y="2194560"/>
            <a:ext cx="694944" cy="69494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037" y="2368296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50301" y="3035808"/>
            <a:ext cx="2867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Общие правила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50301" y="3401568"/>
            <a:ext cx="28675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Единый оператор, открытые форматы, права на историю данных остаются у заказчика.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58368" y="4480560"/>
            <a:ext cx="1087495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1042416" y="4700016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 сохраняет контроль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1042416" y="5120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Стандарты, права на историю данных и правила доступа остаются у него. Поставщики конкурируют за отдельные части услуги и заменяются без остановки сервиса. Следующий регион получает то же ядро и настраивает его под себя.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сервиса. Четыре региона.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Каждый заканчивается конкретным действием пользователя.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313432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32688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FIRE-A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Сибирь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32688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32688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Лесные и диспетчерские службы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проверить сигнал</a:t>
            </a:r>
            <a:endParaRPr lang="en-US" sz="12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4553712"/>
            <a:ext cx="2039112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32688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время до проверки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61004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735324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060" y="231343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735324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ENV-A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735324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Волго-Каспий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735324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3735324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Природоохранный орган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3735324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назначить инспекцию</a:t>
            </a:r>
            <a:endParaRPr lang="en-US" sz="12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5324" y="4553712"/>
            <a:ext cx="2039112" cy="36576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3735324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доля подтверждённых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263640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537960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2313432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537960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AGRI-B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6537960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Юг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537960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6537960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Хозяйства и органы АПК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6537960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обследовать участок</a:t>
            </a:r>
            <a:endParaRPr lang="en-US" sz="1250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553712"/>
            <a:ext cx="2039112" cy="36576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537960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сигнал с действием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066276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9340596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4332" y="2313432"/>
            <a:ext cx="365760" cy="36576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340596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TRANS-B</a:t>
            </a:r>
            <a:endParaRPr lang="en-US" sz="1600" dirty="0"/>
          </a:p>
        </p:txBody>
      </p:sp>
      <p:sp>
        <p:nvSpPr>
          <p:cNvPr id="38" name="Text 29"/>
          <p:cNvSpPr txBox="1"/>
          <p:nvPr/>
        </p:nvSpPr>
        <p:spPr>
          <a:xfrm>
            <a:off x="9340596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9340596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9340596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Операторы и перевозчики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9340596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изменить план</a:t>
            </a:r>
            <a:endParaRPr lang="en-US" sz="125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0596" y="4553712"/>
            <a:ext cx="2039112" cy="3657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340596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время до решения</a:t>
            </a:r>
            <a:endParaRPr lang="en-US" sz="1100" dirty="0"/>
          </a:p>
        </p:txBody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5285232"/>
            <a:ext cx="5340096" cy="603504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50976" y="5285232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 и ENV — общедоступная основа для органов</a:t>
            </a:r>
            <a:endParaRPr lang="en-US" sz="1250" dirty="0"/>
          </a:p>
        </p:txBody>
      </p:sp>
      <p:pic>
        <p:nvPicPr>
          <p:cNvPr id="4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0488" y="5285232"/>
            <a:ext cx="5340096" cy="603504"/>
          </a:xfrm>
          <a:prstGeom prst="rect">
            <a:avLst/>
          </a:prstGeom>
        </p:spPr>
      </p:pic>
      <p:sp>
        <p:nvSpPr>
          <p:cNvPr id="47" name="Text 35"/>
          <p:cNvSpPr txBox="1"/>
          <p:nvPr/>
        </p:nvSpPr>
        <p:spPr>
          <a:xfrm>
            <a:off x="6483096" y="5285232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 и TRANS — якорный слой и платная детализация</a:t>
            </a:r>
            <a:endParaRPr lang="en-US" sz="1250" dirty="0"/>
          </a:p>
        </p:txBody>
      </p:sp>
      <p:sp>
        <p:nvSpPr>
          <p:cNvPr id="48" name="Text 36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 собирается за минуту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Эксперт меняет состав и сразу видит новый результат.</a:t>
            </a:r>
            <a:endParaRPr lang="en-US" sz="13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75104"/>
            <a:ext cx="6766560" cy="80467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50976" y="1975104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5 670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699248" y="1975104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столько портфелей вообще можно собрать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 rot="10800000">
            <a:off x="1371600" y="281635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035808"/>
            <a:ext cx="3931920" cy="8046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3035808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143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4864608" y="3035808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столько остаётся, если держать условия кейса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 rot="10800000">
            <a:off x="1371600" y="3877056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096512"/>
            <a:ext cx="2103120" cy="80467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50976" y="409651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3035808" y="4096512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тот, который мы предлагаем региону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58368" y="5230368"/>
            <a:ext cx="10874959" cy="841248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969264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225296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открыть портфель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 rot="5400000">
            <a:off x="2852928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090672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346704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переключить бюджет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 rot="5400000">
            <a:off x="4974336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212080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5468112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заменить лот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 rot="5400000">
            <a:off x="7095744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333488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7589520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увидеть, что сломалось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 rot="5400000">
            <a:off x="9217152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9454896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9710928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вернуть обратно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Баланс важнее максимума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Каждая точка — портфель, который проходит условия при урезанном бюджете.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7406640" cy="3986784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1328" y="5230368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512064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1 000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481328" y="4494276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43845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1 100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481328" y="3758184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648456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1 200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81328" y="3022092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912364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1 300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481328" y="2286000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2176272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1 400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2148840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1 130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136392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123944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1 150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111496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1 160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099048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1 170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94944" y="199339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польза, млн ₽ в год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555955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406640" y="2212848"/>
            <a:ext cx="12802" cy="3017520"/>
          </a:xfrm>
          <a:prstGeom prst="rect">
            <a:avLst/>
          </a:prstGeom>
          <a:solidFill>
            <a:srgbClr val="B148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888736" y="19202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148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предел 1 180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901757" y="340051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21508" y="338579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53624" y="358601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67151" y="324740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00595" y="411599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16529" y="32341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22753" y="355804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14122" y="377739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36197" y="310902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56114" y="385100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49724" y="27704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63500" y="376414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69724" y="408802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69641" y="351240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75616" y="310608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99102" y="275717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81840" y="34299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05326" y="30810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119018" y="34991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25242" y="38230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89143" y="276747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95367" y="309135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27483" y="329157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50969" y="294266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970886" y="368464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41010" y="295297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74454" y="382156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390388" y="293972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997940" y="34726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96612" y="326360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17856" y="421463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924080" y="467542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787981" y="348295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082089" y="508175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933542" y="246568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210056" y="281458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37608" y="433682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78354" y="49757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531218" y="360956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53458" y="32076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723583" y="247598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37359" y="346970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343583" y="379359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131466" y="506850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044745" y="327096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486985" y="432357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993209" y="464745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230222" y="516124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772961" y="246273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79185" y="278661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094122" y="325771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600346" y="358159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338852" y="450907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279599" y="514799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624828" y="264823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945990" y="344321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099267" y="502286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785823" y="503905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612794" y="468426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071799" y="317821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392960" y="397319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365906" y="477700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721425" y="403208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662172" y="467101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168396" y="499489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859682" y="449287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328562" y="29662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716280" y="394816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73209" y="415427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12546" y="384217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518770" y="416605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103998" y="438982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514039" y="485650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229807" y="360956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526073" y="350356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032297" y="382745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422587" y="414102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617525" y="40512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928811" y="446490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279185" y="359631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785409" y="392019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666903" y="403797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173127" y="43618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246986" y="34049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274454" y="432652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543666" y="517891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938687" y="501991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896612" y="437951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452214" y="468131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057193" y="484031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958438" y="500519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721425" y="485650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246986" y="355067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4106570" y="482706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612794" y="515094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666903" y="42926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304081" y="486681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57027" y="38495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180430" y="395405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39600" y="379653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353458" y="485356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958438" y="501255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859682" y="517744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933542" y="404680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316114" y="352270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901343" y="374648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177857" y="409538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6229807" y="394080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736031" y="426468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321259" y="44884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173127" y="472842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86654" y="438982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7246986" y="406741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736031" y="437657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341010" y="453557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242255" y="470045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034869" y="511708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689226" y="503611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587898" y="456207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5548396" y="477848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039600" y="420727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5301508" y="487122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5597774" y="476523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03998" y="508911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177857" y="413219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034869" y="509205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763085" y="435596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6363" y="42470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6970471" y="408508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108728" y="417930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6970471" y="452379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6832214" y="447373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6970471" y="493453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256861" y="430591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237110" y="468867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7039600" y="490656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624828" y="51303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7108728" y="482264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7276612" y="462979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7177857" y="479467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624828" y="51303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353117" y="3669533"/>
            <a:ext cx="192024" cy="192024"/>
          </a:xfrm>
          <a:prstGeom prst="ellipse">
            <a:avLst/>
          </a:prstGeom>
          <a:solidFill>
            <a:srgbClr val="A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2595433" y="4003289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первый по баллу</a:t>
            </a:r>
            <a:endParaRPr lang="en-US" sz="950" dirty="0"/>
          </a:p>
        </p:txBody>
      </p:sp>
      <p:sp>
        <p:nvSpPr>
          <p:cNvPr id="167" name="Shape 165"/>
          <p:cNvSpPr/>
          <p:nvPr/>
        </p:nvSpPr>
        <p:spPr>
          <a:xfrm>
            <a:off x="3360420" y="3007050"/>
            <a:ext cx="192024" cy="192024"/>
          </a:xfrm>
          <a:prstGeom prst="ellipse">
            <a:avLst/>
          </a:prstGeom>
          <a:solidFill>
            <a:srgbClr val="0B4A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2560320" y="300247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выбор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8284464" y="1883664"/>
            <a:ext cx="3246120" cy="3986784"/>
          </a:xfrm>
          <a:prstGeom prst="roundRect">
            <a:avLst>
              <a:gd name="adj" fmla="val 507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70" name="Text 168"/>
          <p:cNvSpPr txBox="1"/>
          <p:nvPr/>
        </p:nvSpPr>
        <p:spPr>
          <a:xfrm>
            <a:off x="8577072" y="21214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этот</a:t>
            </a:r>
            <a:endParaRPr lang="en-US" sz="1600" dirty="0"/>
          </a:p>
        </p:txBody>
      </p:sp>
      <p:sp>
        <p:nvSpPr>
          <p:cNvPr id="171" name="Shape 169"/>
          <p:cNvSpPr/>
          <p:nvPr/>
        </p:nvSpPr>
        <p:spPr>
          <a:xfrm>
            <a:off x="8595360" y="2688336"/>
            <a:ext cx="100584" cy="100584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8851392" y="2596896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Больше общественной пользы, чем у дешёвых вариантов</a:t>
            </a:r>
            <a:endParaRPr lang="en-US" sz="1150" dirty="0"/>
          </a:p>
        </p:txBody>
      </p:sp>
      <p:sp>
        <p:nvSpPr>
          <p:cNvPr id="173" name="Shape 171"/>
          <p:cNvSpPr/>
          <p:nvPr/>
        </p:nvSpPr>
        <p:spPr>
          <a:xfrm>
            <a:off x="8595360" y="3310128"/>
            <a:ext cx="100584" cy="100584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8851392" y="3218688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Денег хватает на содержание всех четырёх сервисов</a:t>
            </a:r>
            <a:endParaRPr lang="en-US" sz="1150" dirty="0"/>
          </a:p>
        </p:txBody>
      </p:sp>
      <p:sp>
        <p:nvSpPr>
          <p:cNvPr id="175" name="Shape 173"/>
          <p:cNvSpPr/>
          <p:nvPr/>
        </p:nvSpPr>
        <p:spPr>
          <a:xfrm>
            <a:off x="8595360" y="3931920"/>
            <a:ext cx="100584" cy="100584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8851392" y="3840480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Остаётся запас, если бюджет урежут</a:t>
            </a:r>
            <a:endParaRPr lang="en-US" sz="1150" dirty="0"/>
          </a:p>
        </p:txBody>
      </p:sp>
      <p:pic>
        <p:nvPicPr>
          <p:cNvPr id="17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7072" y="4517136"/>
            <a:ext cx="2651760" cy="512064"/>
          </a:xfrm>
          <a:prstGeom prst="rect">
            <a:avLst/>
          </a:prstGeom>
        </p:spPr>
      </p:pic>
      <p:sp>
        <p:nvSpPr>
          <p:cNvPr id="178" name="Text 175"/>
          <p:cNvSpPr txBox="1"/>
          <p:nvPr/>
        </p:nvSpPr>
        <p:spPr>
          <a:xfrm>
            <a:off x="8741664" y="451713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+90 млн ₽ пользы в год</a:t>
            </a:r>
            <a:endParaRPr lang="en-US" sz="1350" dirty="0"/>
          </a:p>
        </p:txBody>
      </p:sp>
      <p:sp>
        <p:nvSpPr>
          <p:cNvPr id="179" name="Text 176"/>
          <p:cNvSpPr txBox="1"/>
          <p:nvPr/>
        </p:nvSpPr>
        <p:spPr>
          <a:xfrm>
            <a:off x="8577072" y="5138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сравнению с первым по баллу: он дешевле, но срезает общедоступную часть услуги.</a:t>
            </a:r>
            <a:endParaRPr lang="en-US" sz="1100" dirty="0"/>
          </a:p>
        </p:txBody>
      </p:sp>
      <p:sp>
        <p:nvSpPr>
          <p:cNvPr id="180" name="Text 177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Девять условий кейса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Инструмент показывает по каждому факт, предел и остаток.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103120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189988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53312" y="2084832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лота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53312" y="2340864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 ровно столько и нужно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53312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53312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67558" y="259689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48886" y="1883664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86630" y="2103120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498" y="2189988"/>
            <a:ext cx="173736" cy="17373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043830" y="2084832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Территории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043830" y="2340864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при минимуме 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043830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043830" y="2688336"/>
            <a:ext cx="1039673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58077" y="259689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1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039405" y="1883664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77149" y="2103120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4017" y="2189988"/>
            <a:ext cx="173736" cy="17373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734349" y="2084832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Технологические группы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734349" y="2340864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при минимуме 2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8734349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734349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10248595" y="259689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658368" y="3200400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96112" y="3419856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3506724"/>
            <a:ext cx="173736" cy="17373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353312" y="340156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Общедоступные сервисы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1353312" y="3657600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при минимуме 2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1353312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1353312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2867558" y="39136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4348886" y="3200400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4586630" y="3419856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3498" y="3506724"/>
            <a:ext cx="173736" cy="173736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5043830" y="340156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Стартовые затраты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5043830" y="3657600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 при пределе 1 180</a:t>
            </a:r>
            <a:endParaRPr lang="en-US" sz="1100" dirty="0"/>
          </a:p>
        </p:txBody>
      </p:sp>
      <p:sp>
        <p:nvSpPr>
          <p:cNvPr id="41" name="Shape 34"/>
          <p:cNvSpPr/>
          <p:nvPr/>
        </p:nvSpPr>
        <p:spPr>
          <a:xfrm>
            <a:off x="5043830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5043830" y="4005072"/>
            <a:ext cx="1339240" cy="109728"/>
          </a:xfrm>
          <a:prstGeom prst="roundRect">
            <a:avLst>
              <a:gd name="adj" fmla="val 50000"/>
            </a:avLst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558077" y="39136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40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8039405" y="3200400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5" name="Shape 38"/>
          <p:cNvSpPr/>
          <p:nvPr/>
        </p:nvSpPr>
        <p:spPr>
          <a:xfrm>
            <a:off x="8277149" y="3419856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4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4017" y="3506724"/>
            <a:ext cx="173736" cy="173736"/>
          </a:xfrm>
          <a:prstGeom prst="rect">
            <a:avLst/>
          </a:prstGeom>
        </p:spPr>
      </p:pic>
      <p:sp>
        <p:nvSpPr>
          <p:cNvPr id="47" name="Text 39"/>
          <p:cNvSpPr txBox="1"/>
          <p:nvPr/>
        </p:nvSpPr>
        <p:spPr>
          <a:xfrm>
            <a:off x="8734349" y="340156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Содержание в год</a:t>
            </a:r>
            <a:endParaRPr lang="en-US" sz="1200" dirty="0"/>
          </a:p>
        </p:txBody>
      </p:sp>
      <p:sp>
        <p:nvSpPr>
          <p:cNvPr id="48" name="Text 40"/>
          <p:cNvSpPr txBox="1"/>
          <p:nvPr/>
        </p:nvSpPr>
        <p:spPr>
          <a:xfrm>
            <a:off x="8734349" y="3657600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313 при пределе 360</a:t>
            </a:r>
            <a:endParaRPr lang="en-US" sz="1100" dirty="0"/>
          </a:p>
        </p:txBody>
      </p:sp>
      <p:sp>
        <p:nvSpPr>
          <p:cNvPr id="49" name="Shape 41"/>
          <p:cNvSpPr/>
          <p:nvPr/>
        </p:nvSpPr>
        <p:spPr>
          <a:xfrm>
            <a:off x="8734349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50" name="Shape 42"/>
          <p:cNvSpPr/>
          <p:nvPr/>
        </p:nvSpPr>
        <p:spPr>
          <a:xfrm>
            <a:off x="8734349" y="4005072"/>
            <a:ext cx="120525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10248595" y="39136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47</a:t>
            </a:r>
            <a:endParaRPr lang="en-US" sz="950" dirty="0"/>
          </a:p>
        </p:txBody>
      </p:sp>
      <p:sp>
        <p:nvSpPr>
          <p:cNvPr id="52" name="Shape 44"/>
          <p:cNvSpPr/>
          <p:nvPr/>
        </p:nvSpPr>
        <p:spPr>
          <a:xfrm>
            <a:off x="658368" y="4517136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3" name="Shape 45"/>
          <p:cNvSpPr/>
          <p:nvPr/>
        </p:nvSpPr>
        <p:spPr>
          <a:xfrm>
            <a:off x="896112" y="4736592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" y="4823460"/>
            <a:ext cx="173736" cy="173736"/>
          </a:xfrm>
          <a:prstGeom prst="rect">
            <a:avLst/>
          </a:prstGeom>
        </p:spPr>
      </p:pic>
      <p:sp>
        <p:nvSpPr>
          <p:cNvPr id="55" name="Text 46"/>
          <p:cNvSpPr txBox="1"/>
          <p:nvPr/>
        </p:nvSpPr>
        <p:spPr>
          <a:xfrm>
            <a:off x="1353312" y="4718304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Общественная польза</a:t>
            </a:r>
            <a:endParaRPr lang="en-US" sz="1200" dirty="0"/>
          </a:p>
        </p:txBody>
      </p:sp>
      <p:sp>
        <p:nvSpPr>
          <p:cNvPr id="56" name="Text 47"/>
          <p:cNvSpPr txBox="1"/>
          <p:nvPr/>
        </p:nvSpPr>
        <p:spPr>
          <a:xfrm>
            <a:off x="1353312" y="4974336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1 289 при минимуме 1 000</a:t>
            </a:r>
            <a:endParaRPr lang="en-US" sz="1100" dirty="0"/>
          </a:p>
        </p:txBody>
      </p:sp>
      <p:sp>
        <p:nvSpPr>
          <p:cNvPr id="57" name="Shape 48"/>
          <p:cNvSpPr/>
          <p:nvPr/>
        </p:nvSpPr>
        <p:spPr>
          <a:xfrm>
            <a:off x="1353312" y="5321808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1353312" y="5321808"/>
            <a:ext cx="1075431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2867558" y="52303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289</a:t>
            </a:r>
            <a:endParaRPr lang="en-US" sz="950" dirty="0"/>
          </a:p>
        </p:txBody>
      </p:sp>
      <p:sp>
        <p:nvSpPr>
          <p:cNvPr id="60" name="Shape 51"/>
          <p:cNvSpPr/>
          <p:nvPr/>
        </p:nvSpPr>
        <p:spPr>
          <a:xfrm>
            <a:off x="4348886" y="4517136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61" name="Shape 52"/>
          <p:cNvSpPr/>
          <p:nvPr/>
        </p:nvSpPr>
        <p:spPr>
          <a:xfrm>
            <a:off x="4586630" y="4736592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3498" y="4823460"/>
            <a:ext cx="173736" cy="173736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5043830" y="4718304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 к содержанию</a:t>
            </a:r>
            <a:endParaRPr lang="en-US" sz="1200" dirty="0"/>
          </a:p>
        </p:txBody>
      </p:sp>
      <p:sp>
        <p:nvSpPr>
          <p:cNvPr id="64" name="Text 54"/>
          <p:cNvSpPr txBox="1"/>
          <p:nvPr/>
        </p:nvSpPr>
        <p:spPr>
          <a:xfrm>
            <a:off x="5043830" y="4974336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1,18 при минимуме 0,60</a:t>
            </a:r>
            <a:endParaRPr lang="en-US" sz="1100" dirty="0"/>
          </a:p>
        </p:txBody>
      </p:sp>
      <p:sp>
        <p:nvSpPr>
          <p:cNvPr id="65" name="Shape 55"/>
          <p:cNvSpPr/>
          <p:nvPr/>
        </p:nvSpPr>
        <p:spPr>
          <a:xfrm>
            <a:off x="5043830" y="5321808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66" name="Shape 56"/>
          <p:cNvSpPr/>
          <p:nvPr/>
        </p:nvSpPr>
        <p:spPr>
          <a:xfrm>
            <a:off x="5043830" y="5321808"/>
            <a:ext cx="702656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67" name="Text 57"/>
          <p:cNvSpPr txBox="1"/>
          <p:nvPr/>
        </p:nvSpPr>
        <p:spPr>
          <a:xfrm>
            <a:off x="6558077" y="52303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0,58</a:t>
            </a:r>
            <a:endParaRPr lang="en-US" sz="950" dirty="0"/>
          </a:p>
        </p:txBody>
      </p:sp>
      <p:sp>
        <p:nvSpPr>
          <p:cNvPr id="68" name="Shape 58"/>
          <p:cNvSpPr/>
          <p:nvPr/>
        </p:nvSpPr>
        <p:spPr>
          <a:xfrm>
            <a:off x="8039405" y="4517136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69" name="Shape 59"/>
          <p:cNvSpPr/>
          <p:nvPr/>
        </p:nvSpPr>
        <p:spPr>
          <a:xfrm>
            <a:off x="8277149" y="4736592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4017" y="4823460"/>
            <a:ext cx="173736" cy="173736"/>
          </a:xfrm>
          <a:prstGeom prst="rect">
            <a:avLst/>
          </a:prstGeom>
        </p:spPr>
      </p:pic>
      <p:sp>
        <p:nvSpPr>
          <p:cNvPr id="71" name="Text 60"/>
          <p:cNvSpPr txBox="1"/>
          <p:nvPr/>
        </p:nvSpPr>
        <p:spPr>
          <a:xfrm>
            <a:off x="8734349" y="4718304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Тиражируемость</a:t>
            </a:r>
            <a:endParaRPr lang="en-US" sz="1200" dirty="0"/>
          </a:p>
        </p:txBody>
      </p:sp>
      <p:sp>
        <p:nvSpPr>
          <p:cNvPr id="72" name="Text 61"/>
          <p:cNvSpPr txBox="1"/>
          <p:nvPr/>
        </p:nvSpPr>
        <p:spPr>
          <a:xfrm>
            <a:off x="8734349" y="4974336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0,73 при минимуме 0,63</a:t>
            </a:r>
            <a:endParaRPr lang="en-US" sz="1100" dirty="0"/>
          </a:p>
        </p:txBody>
      </p:sp>
      <p:sp>
        <p:nvSpPr>
          <p:cNvPr id="73" name="Shape 62"/>
          <p:cNvSpPr/>
          <p:nvPr/>
        </p:nvSpPr>
        <p:spPr>
          <a:xfrm>
            <a:off x="8734349" y="5321808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74" name="Shape 63"/>
          <p:cNvSpPr/>
          <p:nvPr/>
        </p:nvSpPr>
        <p:spPr>
          <a:xfrm>
            <a:off x="8734349" y="5321808"/>
            <a:ext cx="1196336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75" name="Text 64"/>
          <p:cNvSpPr txBox="1"/>
          <p:nvPr/>
        </p:nvSpPr>
        <p:spPr>
          <a:xfrm>
            <a:off x="10248595" y="52303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0,10</a:t>
            </a:r>
            <a:endParaRPr lang="en-US" sz="950" dirty="0"/>
          </a:p>
        </p:txBody>
      </p:sp>
      <p:pic>
        <p:nvPicPr>
          <p:cNvPr id="7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" y="5797296"/>
            <a:ext cx="6309360" cy="493776"/>
          </a:xfrm>
          <a:prstGeom prst="rect">
            <a:avLst/>
          </a:prstGeom>
        </p:spPr>
      </p:pic>
      <p:sp>
        <p:nvSpPr>
          <p:cNvPr id="77" name="Text 65"/>
          <p:cNvSpPr txBox="1"/>
          <p:nvPr/>
        </p:nvSpPr>
        <p:spPr>
          <a:xfrm>
            <a:off x="914400" y="5797296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Тоньше всего запас по старту при урезанном бюджете: 40 млн ₽</a:t>
            </a:r>
            <a:endParaRPr lang="en-US" sz="1200" dirty="0"/>
          </a:p>
        </p:txBody>
      </p:sp>
      <p:sp>
        <p:nvSpPr>
          <p:cNvPr id="78" name="Text 66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Кто платит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контура на старте, положительный баланс в год.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640080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21214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523744"/>
            <a:ext cx="3116660" cy="859536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364" y="2523744"/>
            <a:ext cx="2534332" cy="8595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61872" y="252374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630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4433396" y="252374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510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005840" y="3602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за FIRE и ENV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177364" y="3602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Частный партнёр за AGRI и TRANS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70064" y="1883664"/>
            <a:ext cx="416052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717536" y="2121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Год, млн ₽</a:t>
            </a:r>
            <a:endParaRPr lang="en-US" sz="12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536" y="2798064"/>
            <a:ext cx="1042416" cy="10972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07808" y="243230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370,5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516368" y="400507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968357"/>
            <a:ext cx="1042416" cy="92698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87968" y="2602597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313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796528" y="400507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содержание</a:t>
            </a:r>
            <a:endParaRPr lang="en-US" sz="105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2743200"/>
            <a:ext cx="1042416" cy="104241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277856" y="3017520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+57,5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658368" y="4535424"/>
            <a:ext cx="10874959" cy="1225296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3" name="Text 16"/>
          <p:cNvSpPr txBox="1"/>
          <p:nvPr/>
        </p:nvSpPr>
        <p:spPr>
          <a:xfrm>
            <a:off x="1042416" y="475488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лет</a:t>
            </a:r>
            <a:endParaRPr lang="en-US" sz="2100" dirty="0"/>
          </a:p>
        </p:txBody>
      </p:sp>
      <p:sp>
        <p:nvSpPr>
          <p:cNvPr id="24" name="Text 17"/>
          <p:cNvSpPr txBox="1"/>
          <p:nvPr/>
        </p:nvSpPr>
        <p:spPr>
          <a:xfrm>
            <a:off x="1042416" y="5193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срок партнёрства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4608576" y="475488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2027–2033</a:t>
            </a:r>
            <a:endParaRPr lang="en-US" sz="2100" dirty="0"/>
          </a:p>
        </p:txBody>
      </p:sp>
      <p:sp>
        <p:nvSpPr>
          <p:cNvPr id="26" name="Text 19"/>
          <p:cNvSpPr txBox="1"/>
          <p:nvPr/>
        </p:nvSpPr>
        <p:spPr>
          <a:xfrm>
            <a:off x="4608576" y="5193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горизонт расчёта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8174736" y="4754880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1,18</a:t>
            </a:r>
            <a:endParaRPr lang="en-US" sz="2100" dirty="0"/>
          </a:p>
        </p:txBody>
      </p:sp>
      <p:sp>
        <p:nvSpPr>
          <p:cNvPr id="28" name="Text 21"/>
          <p:cNvSpPr txBox="1"/>
          <p:nvPr/>
        </p:nvSpPr>
        <p:spPr>
          <a:xfrm>
            <a:off x="8174736" y="5193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 к содержанию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658368" y="590702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Коммерческая часть пока гипотеза, её проверяют пилот и тарифный тест.</a:t>
            </a:r>
            <a:endParaRPr lang="en-US" sz="1150" dirty="0"/>
          </a:p>
        </p:txBody>
      </p:sp>
      <p:sp>
        <p:nvSpPr>
          <p:cNvPr id="30" name="Text 23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урезали. Портфель держится.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Падает предел затрат, стоимость сервисов остаётся прежней.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956816"/>
            <a:ext cx="10874959" cy="192024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24128" y="2615184"/>
            <a:ext cx="10140696" cy="749808"/>
          </a:xfrm>
          <a:prstGeom prst="roundRect">
            <a:avLst>
              <a:gd name="adj" fmla="val 12195"/>
            </a:avLst>
          </a:prstGeom>
          <a:solidFill>
            <a:srgbClr val="EDF3EF"/>
          </a:solidFill>
          <a:ln w="12700">
            <a:solidFill>
              <a:srgbClr val="E4EDE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615184"/>
            <a:ext cx="8892610" cy="749808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5026" y="2615184"/>
            <a:ext cx="293733" cy="7498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98448" y="2615184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старт 1 140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11164824" y="2414016"/>
            <a:ext cx="12802" cy="1152144"/>
          </a:xfrm>
          <a:prstGeom prst="rect">
            <a:avLst/>
          </a:prstGeom>
          <a:solidFill>
            <a:srgbClr val="8D9E95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8586216" y="2084832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D9E9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обычный бюджет 1 300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10228760" y="2414016"/>
            <a:ext cx="12802" cy="1152144"/>
          </a:xfrm>
          <a:prstGeom prst="rect">
            <a:avLst/>
          </a:prstGeom>
          <a:solidFill>
            <a:srgbClr val="B1483C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50152" y="3602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148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урезанный бюджет 1 180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1024128" y="36027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40 млн ₽ до урезанного предела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58368" y="4133088"/>
            <a:ext cx="5340096" cy="1700784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50976" y="4389120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535424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82496" y="442569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Состав сохраняем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682496" y="47548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нужно заново согласовывать пользователей, доступ и договоры. Портфель остаётся тем же, просто с меньшим запасом.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90488" y="4133088"/>
            <a:ext cx="5340096" cy="1700784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83096" y="4389120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535424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14616" y="442569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Если спрос не придёт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7214616" y="47548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Мы посчитали и такой вариант: без коммерческой выручки содержание недофинансировано на 123 млн ₽ в год, покрывать это придётся заказчику.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Кто за что отвечает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 держит стандарты и данные, конкуренция сохраняется.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920240"/>
            <a:ext cx="3364992" cy="173736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304288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64208" y="219456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2889504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стандарты, права на историю данных, правила доступа и приёмка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 rot="5400000">
            <a:off x="4169664" y="2697480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98848" y="1920240"/>
            <a:ext cx="3364992" cy="173736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73168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72" y="2304288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04688" y="219456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773168" y="2889504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единый сервис, SLA, журналы, интеграции и поддержка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 rot="5400000">
            <a:off x="8010144" y="2697480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39328" y="1920240"/>
            <a:ext cx="3364992" cy="173736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13648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230428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345168" y="219456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Поставщики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613648" y="2889504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отдельные компоненты и периоды услуги, конкурируют между собой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58368" y="3913632"/>
            <a:ext cx="5340096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950976" y="416966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315968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82496" y="42062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Когда меняем поставщика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950976" y="490118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Повторно нарушен критический SLA, утрачены права на данные или закрыт формат выгрузки. Прежний поставщик отдаёт историю и настройки, новый проходит контрольный пересчёт и период параллельной работы.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6190488" y="3913632"/>
            <a:ext cx="5340096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83096" y="416966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315968"/>
            <a:ext cx="310896" cy="31089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214616" y="42062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Восемь рисков, у каждого владелец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6483096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1" name="Text 24"/>
          <p:cNvSpPr txBox="1"/>
          <p:nvPr/>
        </p:nvSpPr>
        <p:spPr>
          <a:xfrm>
            <a:off x="6611112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7726680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7854696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ложный сигнал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8970264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5" name="Text 28"/>
          <p:cNvSpPr txBox="1"/>
          <p:nvPr/>
        </p:nvSpPr>
        <p:spPr>
          <a:xfrm>
            <a:off x="9098280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10213848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7" name="Text 30"/>
          <p:cNvSpPr txBox="1"/>
          <p:nvPr/>
        </p:nvSpPr>
        <p:spPr>
          <a:xfrm>
            <a:off x="10341864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внедрение</a:t>
            </a:r>
            <a:endParaRPr lang="en-US" sz="900" dirty="0"/>
          </a:p>
        </p:txBody>
      </p:sp>
      <p:sp>
        <p:nvSpPr>
          <p:cNvPr id="38" name="Shape 31"/>
          <p:cNvSpPr/>
          <p:nvPr/>
        </p:nvSpPr>
        <p:spPr>
          <a:xfrm>
            <a:off x="6483096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9" name="Text 32"/>
          <p:cNvSpPr txBox="1"/>
          <p:nvPr/>
        </p:nvSpPr>
        <p:spPr>
          <a:xfrm>
            <a:off x="6611112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</a:t>
            </a:r>
            <a:endParaRPr lang="en-US" sz="900" dirty="0"/>
          </a:p>
        </p:txBody>
      </p:sp>
      <p:sp>
        <p:nvSpPr>
          <p:cNvPr id="40" name="Shape 33"/>
          <p:cNvSpPr/>
          <p:nvPr/>
        </p:nvSpPr>
        <p:spPr>
          <a:xfrm>
            <a:off x="7726680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1" name="Text 34"/>
          <p:cNvSpPr txBox="1"/>
          <p:nvPr/>
        </p:nvSpPr>
        <p:spPr>
          <a:xfrm>
            <a:off x="7854696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</a:t>
            </a:r>
            <a:endParaRPr lang="en-US" sz="900" dirty="0"/>
          </a:p>
        </p:txBody>
      </p:sp>
      <p:sp>
        <p:nvSpPr>
          <p:cNvPr id="42" name="Shape 35"/>
          <p:cNvSpPr/>
          <p:nvPr/>
        </p:nvSpPr>
        <p:spPr>
          <a:xfrm>
            <a:off x="8970264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3" name="Text 36"/>
          <p:cNvSpPr txBox="1"/>
          <p:nvPr/>
        </p:nvSpPr>
        <p:spPr>
          <a:xfrm>
            <a:off x="9098280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</a:t>
            </a:r>
            <a:endParaRPr lang="en-US" sz="900" dirty="0"/>
          </a:p>
        </p:txBody>
      </p:sp>
      <p:sp>
        <p:nvSpPr>
          <p:cNvPr id="44" name="Shape 37"/>
          <p:cNvSpPr/>
          <p:nvPr/>
        </p:nvSpPr>
        <p:spPr>
          <a:xfrm>
            <a:off x="10213848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5" name="Text 38"/>
          <p:cNvSpPr txBox="1"/>
          <p:nvPr/>
        </p:nvSpPr>
        <p:spPr>
          <a:xfrm>
            <a:off x="10341864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</a:t>
            </a:r>
            <a:endParaRPr lang="en-US" sz="900" dirty="0"/>
          </a:p>
        </p:txBody>
      </p:sp>
      <p:sp>
        <p:nvSpPr>
          <p:cNvPr id="46" name="Text 39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 без переделки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Следующий регион получает готовую основу.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920240"/>
            <a:ext cx="5340096" cy="29260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0976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304288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82496" y="219456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Переносим как есть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87552" y="3017520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25296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каталог сервисов и ролей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87552" y="3328416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25296" y="32369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обработку данных и модель событий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87552" y="3639312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25296" y="3547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интерфейсы и форматы выгрузки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87552" y="3950208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25296" y="3858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 и журналирование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87552" y="4261104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25296" y="4169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шаблоны SLA и договоров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87552" y="4572000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25296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методику KPI и базу знаний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0488" y="1920240"/>
            <a:ext cx="5340096" cy="29260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83096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04288"/>
            <a:ext cx="310896" cy="31089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214616" y="219456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Настраиваем на месте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6519672" y="3017520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757416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границы и сезонные пороги для пожаров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519672" y="3328416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757416" y="32369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зоны и типы событий для экологии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519672" y="3639312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757416" y="3547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поля, культуры и права хозяйств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6519672" y="3950208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57416" y="3858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объекты, маршруты и регламент реакции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658368" y="5193792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786384" y="5193792"/>
            <a:ext cx="303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 в регионе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 rot="5400000">
            <a:off x="4078224" y="537667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425696" y="5193792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4553712" y="5193792"/>
            <a:ext cx="303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разбор и обновление ядра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 rot="5400000">
            <a:off x="7845552" y="537667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8193024" y="5193792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8321040" y="5193792"/>
            <a:ext cx="303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следующий регион по шаблону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Пять шагов до 2033 года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каждого шага есть результат, ответственный и признак завершения.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24128" y="3035808"/>
            <a:ext cx="10143439" cy="10973"/>
          </a:xfrm>
          <a:prstGeom prst="rect">
            <a:avLst/>
          </a:prstGeom>
          <a:solidFill>
            <a:srgbClr val="DCE7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2027, первое полугодие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46304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37490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0467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Заказчики и договоры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289864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2027–2028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70332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70332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89864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37490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04495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Пилоты по пожарам и экологии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04495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513892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2028, второе полугодие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94360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94360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513892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749040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28523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Разбор пилотов и обновление ядра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528523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737920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2029–2030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18388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18388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737920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749040"/>
            <a:ext cx="274320" cy="27432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52551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Запуск полей и транспорта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752551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частный партнёр</a:t>
            </a:r>
            <a:endParaRPr lang="en-US" sz="1050" dirty="0"/>
          </a:p>
        </p:txBody>
      </p:sp>
      <p:sp>
        <p:nvSpPr>
          <p:cNvPr id="33" name="Text 27"/>
          <p:cNvSpPr txBox="1"/>
          <p:nvPr/>
        </p:nvSpPr>
        <p:spPr>
          <a:xfrm>
            <a:off x="961948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2031–2033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1042416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042416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961948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0" y="3749040"/>
            <a:ext cx="274320" cy="274320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976579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 в новые регионы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976579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0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5541264"/>
            <a:ext cx="6949440" cy="512064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914400" y="554126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Шаг закрывается принятыми KPI и подписанной приёмкой</a:t>
            </a:r>
            <a:endParaRPr lang="en-US" sz="1250" dirty="0"/>
          </a:p>
        </p:txBody>
      </p:sp>
      <p:sp>
        <p:nvSpPr>
          <p:cNvPr id="42" name="Text 34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841248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Попробуйте сами</a:t>
            </a:r>
            <a:endParaRPr lang="en-US" sz="4600" dirty="0"/>
          </a:p>
        </p:txBody>
      </p:sp>
      <p:sp>
        <p:nvSpPr>
          <p:cNvPr id="4" name="Shape 1"/>
          <p:cNvSpPr/>
          <p:nvPr/>
        </p:nvSpPr>
        <p:spPr>
          <a:xfrm>
            <a:off x="4133088" y="1975104"/>
            <a:ext cx="3931920" cy="3931920"/>
          </a:xfrm>
          <a:prstGeom prst="roundRect">
            <a:avLst>
              <a:gd name="adj" fmla="val 6047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295144"/>
            <a:ext cx="3291840" cy="32918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0" y="6108192"/>
            <a:ext cx="121916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cosmo.arbuz.lol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Кейс 02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Космос как инфраструктура</dc:title>
  <dc:subject>PptxGenJS Presentation</dc:subject>
  <dc:creator>Команда «Молоток»</dc:creator>
  <cp:lastModifiedBy>Команда «Молоток»</cp:lastModifiedBy>
  <cp:revision>1</cp:revision>
  <dcterms:created xsi:type="dcterms:W3CDTF">2026-09-13T07:59:59Z</dcterms:created>
  <dcterms:modified xsi:type="dcterms:W3CDTF">2026-09-13T07:59:59Z</dcterms:modified>
</cp:coreProperties>
</file>