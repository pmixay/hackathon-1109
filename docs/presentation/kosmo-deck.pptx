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решали кейс «Космос как инфраструктура» и сразу скажем главное: мы собрали не расчёт одной комбинации, а инструмент, который подбирает региону портфель космических сервисов. На экране наш портфель: пожары в Сибири, экология Волго-Каспия, поля Юга, транспорт Центра. Старт стоит 1 140 миллионов рублей, общественная польза 1 289 миллионов в год, поступления 370,5. По QR-коду инструмент открывается прямо сейчас, с любого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 простая: региону нужен не снимок, а решение. Снимок сам по себе ничего не меняет, действует человек — лесник, инспектор, агроном, диспетчер. Поэтому каждый наш сервис описан через действие, которое он вызывает. Второе: мы предлагаем портфель, а не отдельный лот. Общественные сервисы отвечают за смысл, прикладные приносят деньги, и вместе они держатся. Третье: правила для всех четырёх сервисов общие. Один оператор, открытые форматы, права на историю данных остаются у заказчика.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Пожары в Сибири: служба видит очаги и решает, что проверять первым. Меряем время от сигнала до проверки. Экология Волго-Каспия: инспекция получает приоритет обхода. Меряем долю подтверждённых сигналов. Поля Юга: хозяйство находит участок с отклонением. Меряем долю сигналов, по которым что-то сделали. Транспорт Центра: оператор видит отклонение на маршруте и меняет план. Меряем время до решения. Первые два сервиса работают в режиме A и остаются общедоступной основой для органов. Поля и транспорт в режиме B: заказчик получает общую картину, а детализацию покупают те, кому она нужна. Плательщиков мы называем честно как предположение: подтверждённых контрактов у нас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лота из восьми, каждый в одном из трёх режимов доступа. Всего получается 5 670 возможных портфелей. Если держать условия кейса при урезанном бюджете, остаётся 143. Из них мы и выбирали. Это не разовый расчёт: в интерфейсе можно заменить любой лот, переключить сценарий бюджета и получить новые числа, а потом выгрузить результат в формате организаторов.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горизонтали стартовые затраты, по вертикали общественная польза. Красная черта — предел бюджета в стрессовом сценарии. Золотая точка — вариант, который модель ставит первым, зелёная — наш. Мы сознательно взяли не первый по баллу. Он экономит деньги за счёт того, что переводит поля и транспорт в чисто коммерческий режим, а это срезает общедоступную часть услуги. Наш вариант даёт на 90 миллионов больше общественной пользы в год и стоит третьим из 143 по баллу модели. Веса критериев мы зафиксировали до того, как увидели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Девять условий кейса инструмент проверяет сам и по каждому показывает факт, предел и остаток. Это важнее зелёной галочки: эксперт сразу видит, где мы у самой границы. Граница у нас одна — стартовые затраты при урезанном бюджете, там остаётся 40 миллионов, около трёх процентов лимита. Этот запас мы держим под уточнение смет и интеграций.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Старт стоит 1 140 миллионов и делится на два контура: 630 миллионов бюджет за общественные сервисы и 510 миллионов частный партнёр за поля и транспорт. В год приходит 370,5, содержание стоит 313, остаётся 57,5 миллионов. За семь лет частный партнёр вложенное не возвращает, поэтому мы закладываем десятилетний срок партнёрства без капитального гранта. И сразу говорим главное ограничение: коммерческая выручка пока гипотеза, её проверяют пилот и тарифный тест.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стрессовом сценарии меняется только предел стартовых затрат: 1 300 становится 1 180. Наш старт 1 140, поэтому мы проходим и состав не трогаем. Это важно организационно: не нужно заново собирать согласования по пользователям, доступу и договорам. Отдельно мы проверили худший коммерческий случай, когда платного спроса нет совсем. Формально порог держится, но дыра в 123 миллиона в год реальная, и закрывать её пришлось бы заказчику. Мы говорим об этом сами, до вопроса жюри.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простая. Заказчик держит стандарты, права на историю данных и правила доступа. Оператор отвечает за сквозной сервис: доступ, SLA, журналы, интеграции и поддержку. Поставщики конкурируют за отдельные компоненты, поэтому мы не привязаны к одному подрядчику. Смена поставщика прописана заранее: повторное нарушение критического SLA, утрата прав на данные или закрытый формат выгрузки. Прежний поставщик отдаёт историю и настройки, новый проходит контрольный пересчёт и период параллельной работы. Рисков восемь, у каждого есть ранний признак, мера и владелец.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заранее разделили то, что переносится между регионами, и то, что настраивается на месте. Переносится каталог сервисов, обработка данных, модель событий, интерфейсы, механизмы доступа, шаблоны договоров и методика KPI. Настраиваются границы и сезонные пороги, зоны событий, поля и права хозяйств, объекты и маршруты. Опыт передаётся циклом: пилот, разбор, обновление общего ядра, следующий регион уже по шаблону.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подтверждаем заказчиков, финансирование и SLA. Потом два пилота, пожары и экология: они проверяют весь операторский контур на общественных сервисах. Третий шаг обычно забывают, а он ключевой: разобрать пилоты и обновить общее ядро. Только после этого подключаем поля и транспорт, где нужно проверять коммерческий спрос. С 2031 года тираж в новые регионы. Календарные сроки — наше допущение, кейс их не задаёт.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лучше показать вживую. Открываем наш портфель — все условия выполнены. Переключаем бюджет на урезанный, портфель держится. В конструкторе меняем один лот, например поля на паводки: инструмент сразу говорит, какое условие нарушено и на сколько. Возвращаем портфель одной кнопкой. Заканчиваем тем же, с чего начали: регион получает четыре работающих сервиса, понятные правила и запас на случай урезанного бюджета.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813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5B894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813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55B894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6327648"/>
            <a:ext cx="11057839" cy="10973"/>
          </a:xfrm>
          <a:prstGeom prst="rect">
            <a:avLst/>
          </a:prstGeom>
          <a:solidFill>
            <a:srgbClr val="1E3228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5836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КОСМОХАКАТОН 2026,  КЕЙС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6492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Космос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инфраструктура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8346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 получает не снимки, а четыре работающих сервиса и понятные правила доступа к ним.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529584"/>
            <a:ext cx="1426464" cy="420624"/>
          </a:xfrm>
          <a:prstGeom prst="roundRect">
            <a:avLst>
              <a:gd name="adj" fmla="val 17391"/>
            </a:avLst>
          </a:prstGeom>
          <a:solidFill>
            <a:srgbClr val="0F1D17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529584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FIRE-A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139696" y="3529584"/>
            <a:ext cx="1426464" cy="420624"/>
          </a:xfrm>
          <a:prstGeom prst="roundRect">
            <a:avLst>
              <a:gd name="adj" fmla="val 17391"/>
            </a:avLst>
          </a:prstGeom>
          <a:solidFill>
            <a:srgbClr val="0F1D17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31136" y="3529584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ENV-A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12464" y="3529584"/>
            <a:ext cx="1426464" cy="420624"/>
          </a:xfrm>
          <a:prstGeom prst="roundRect">
            <a:avLst>
              <a:gd name="adj" fmla="val 17391"/>
            </a:avLst>
          </a:prstGeom>
          <a:solidFill>
            <a:srgbClr val="0F1D17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3529584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AGRI-B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285232" y="3529584"/>
            <a:ext cx="1426464" cy="420624"/>
          </a:xfrm>
          <a:prstGeom prst="roundRect">
            <a:avLst>
              <a:gd name="adj" fmla="val 17391"/>
            </a:avLst>
          </a:prstGeom>
          <a:solidFill>
            <a:srgbClr val="0F1D17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76672" y="3529584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TRANS-B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516368" y="1060704"/>
            <a:ext cx="4105656" cy="3950208"/>
          </a:xfrm>
          <a:prstGeom prst="roundRect">
            <a:avLst>
              <a:gd name="adj" fmla="val 231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82128" y="1335024"/>
            <a:ext cx="3383280" cy="442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882128" y="179576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882128" y="2103120"/>
            <a:ext cx="3383280" cy="7315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82128" y="2267712"/>
            <a:ext cx="3383280" cy="442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1 289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882128" y="27284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общественная польза, млн ₽ в год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82128" y="3035808"/>
            <a:ext cx="3383280" cy="7315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82128" y="3200400"/>
            <a:ext cx="3383280" cy="442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370,5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882128" y="36611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поступления, млн ₽ в год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882128" y="3968496"/>
            <a:ext cx="3383280" cy="7315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82128" y="4133088"/>
            <a:ext cx="3383280" cy="442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7882128" y="459382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при урезанном бюджете, млн ₽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50468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cosmo.arbuz.lol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8704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«Молоток». Голубев Павел, Петр Кузнецов, Тимофей Максимов, Лихатин Андрей, Потапенко Филипп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5358384"/>
            <a:ext cx="996696" cy="99669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595360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наведите камеру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ИДЕЯ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 продаём региону результат, а не данные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Космический сервис полезен там, где он заканчивается решением человека.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773936"/>
            <a:ext cx="3547872" cy="2286000"/>
          </a:xfrm>
          <a:prstGeom prst="roundRect">
            <a:avLst>
              <a:gd name="adj" fmla="val 4000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2048256"/>
            <a:ext cx="676656" cy="67665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221992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59536" y="2871216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Готовый ответ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218688"/>
            <a:ext cx="296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снимки и не слои, а короткий ответ: где событие, насколько ему верить и что делать дальше.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73936"/>
            <a:ext cx="3547872" cy="2286000"/>
          </a:xfrm>
          <a:prstGeom prst="roundRect">
            <a:avLst>
              <a:gd name="adj" fmla="val 4000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08576" y="2048256"/>
            <a:ext cx="676656" cy="67665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22199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08576" y="2871216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Портфель, а не лот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3218688"/>
            <a:ext cx="296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сервиса в разных регионах. Общественные держат смысл, прикладные приносят деньги.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065008" y="1773936"/>
            <a:ext cx="3547872" cy="2286000"/>
          </a:xfrm>
          <a:prstGeom prst="roundRect">
            <a:avLst>
              <a:gd name="adj" fmla="val 4000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57616" y="2048256"/>
            <a:ext cx="676656" cy="67665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2221992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57616" y="2871216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Общие правила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357616" y="3218688"/>
            <a:ext cx="29626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Единый оператор, открытые форматы, права на историю данных остаются у заказчика.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66928" y="4315968"/>
            <a:ext cx="11055096" cy="1481328"/>
          </a:xfrm>
          <a:prstGeom prst="roundRect">
            <a:avLst>
              <a:gd name="adj" fmla="val 6173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32688" y="45354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 покупает работающую услугу и сохраняет контроль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932688" y="491947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Стандарты, права на историю данных и правила доступа остаются у него. Поставщики конкурируют за отдельные части услуги и заменяются без остановки сервиса. Регион, который придёт следующим, получает то же ядро и настраивает его под себя.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566928" y="63825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Идея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сервиса, четыре региона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заканчивается конкретным действием пользователя.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2615184" cy="3218688"/>
          </a:xfrm>
          <a:prstGeom prst="roundRect">
            <a:avLst>
              <a:gd name="adj" fmla="val 3497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38528"/>
            <a:ext cx="731520" cy="731520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112264"/>
            <a:ext cx="384048" cy="384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2761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FIRE-A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1752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Сибирь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3346704"/>
            <a:ext cx="2103120" cy="7315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3474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Лесные и диспетчерские службы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проверить сигнал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" y="4315968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431596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до проверки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383280" y="1700784"/>
            <a:ext cx="2615184" cy="3218688"/>
          </a:xfrm>
          <a:prstGeom prst="roundRect">
            <a:avLst>
              <a:gd name="adj" fmla="val 3497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39312" y="1938528"/>
            <a:ext cx="731520" cy="731520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048" y="2112264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3639312" y="2761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ENV-A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639312" y="301752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Волго-Каспий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3639312" y="3346704"/>
            <a:ext cx="2103120" cy="7315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3639312" y="3474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Природоохранный орган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3639312" y="39319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назначить инспекцию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639312" y="4315968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730752" y="431596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доля подтверждённых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199632" y="1700784"/>
            <a:ext cx="2615184" cy="3218688"/>
          </a:xfrm>
          <a:prstGeom prst="roundRect">
            <a:avLst>
              <a:gd name="adj" fmla="val 3497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55664" y="1938528"/>
            <a:ext cx="731520" cy="731520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112264"/>
            <a:ext cx="384048" cy="38404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455664" y="2761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AGRI-B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6455664" y="301752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Юг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6455664" y="3346704"/>
            <a:ext cx="2103120" cy="7315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455664" y="3474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Хозяйства и органы АПК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6455664" y="39319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обследовать участок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455664" y="4315968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547104" y="431596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сигнал с действием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9015984" y="1700784"/>
            <a:ext cx="2615184" cy="3218688"/>
          </a:xfrm>
          <a:prstGeom prst="roundRect">
            <a:avLst>
              <a:gd name="adj" fmla="val 3497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9272016" y="1938528"/>
            <a:ext cx="731520" cy="731520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5752" y="2112264"/>
            <a:ext cx="384048" cy="38404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9272016" y="2761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TRANS-B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9272016" y="301752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9272016" y="3346704"/>
            <a:ext cx="2103120" cy="7315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9272016" y="3474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Операторы и перевозчики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9272016" y="39319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изменить план</a:t>
            </a: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9272016" y="4315968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363456" y="431596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до решения</a:t>
            </a:r>
            <a:endParaRPr lang="en-US" sz="1050" dirty="0"/>
          </a:p>
        </p:txBody>
      </p:sp>
      <p:sp>
        <p:nvSpPr>
          <p:cNvPr id="45" name="Shape 39"/>
          <p:cNvSpPr/>
          <p:nvPr/>
        </p:nvSpPr>
        <p:spPr>
          <a:xfrm>
            <a:off x="566928" y="5138928"/>
            <a:ext cx="5449824" cy="566928"/>
          </a:xfrm>
          <a:prstGeom prst="roundRect">
            <a:avLst>
              <a:gd name="adj" fmla="val 14516"/>
            </a:avLst>
          </a:prstGeom>
          <a:solidFill>
            <a:srgbClr val="2F7A5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822960" y="5138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 и ENV работают как общедоступная основа для органов</a:t>
            </a:r>
            <a:endParaRPr lang="en-US" sz="1150" dirty="0"/>
          </a:p>
        </p:txBody>
      </p:sp>
      <p:sp>
        <p:nvSpPr>
          <p:cNvPr id="47" name="Shape 41"/>
          <p:cNvSpPr/>
          <p:nvPr/>
        </p:nvSpPr>
        <p:spPr>
          <a:xfrm>
            <a:off x="6172200" y="5138928"/>
            <a:ext cx="5449824" cy="566928"/>
          </a:xfrm>
          <a:prstGeom prst="roundRect">
            <a:avLst>
              <a:gd name="adj" fmla="val 14516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28232" y="5138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 и TRANS дают якорный слой заказчику и платную детализацию</a:t>
            </a:r>
            <a:endParaRPr lang="en-US" sz="1150" dirty="0"/>
          </a:p>
        </p:txBody>
      </p:sp>
      <p:sp>
        <p:nvSpPr>
          <p:cNvPr id="49" name="Text 43"/>
          <p:cNvSpPr txBox="1"/>
          <p:nvPr/>
        </p:nvSpPr>
        <p:spPr>
          <a:xfrm>
            <a:off x="566928" y="5815584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Плательщиков называем как предположение команды: подтверждённых контрактов у нас нет.</a:t>
            </a:r>
            <a:endParaRPr lang="en-US" sz="950" dirty="0"/>
          </a:p>
        </p:txBody>
      </p:sp>
      <p:sp>
        <p:nvSpPr>
          <p:cNvPr id="50" name="Text 44"/>
          <p:cNvSpPr txBox="1"/>
          <p:nvPr/>
        </p:nvSpPr>
        <p:spPr>
          <a:xfrm>
            <a:off x="566928" y="63825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Сервисы и пользователи</a:t>
            </a:r>
            <a:endParaRPr lang="en-US" sz="900" dirty="0"/>
          </a:p>
        </p:txBody>
      </p:sp>
      <p:sp>
        <p:nvSpPr>
          <p:cNvPr id="51" name="Text 45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ИНСТРУМЕНТ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 собирается на экране, а не в таблице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Эксперт меняет состав и сразу видит новый результат.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6949440" cy="804672"/>
          </a:xfrm>
          <a:prstGeom prst="roundRect">
            <a:avLst>
              <a:gd name="adj" fmla="val 11364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5 670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7754112" y="1975104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столько портфелей вообще можно собрать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 rot="10800000">
            <a:off x="1243584" y="2834640"/>
            <a:ext cx="164592" cy="164592"/>
          </a:xfrm>
          <a:prstGeom prst="triangle">
            <a:avLst/>
          </a:prstGeom>
          <a:solidFill>
            <a:srgbClr val="2F7A5F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3072384"/>
            <a:ext cx="3931920" cy="804672"/>
          </a:xfrm>
          <a:prstGeom prst="roundRect">
            <a:avLst>
              <a:gd name="adj" fmla="val 11364"/>
            </a:avLst>
          </a:prstGeom>
          <a:solidFill>
            <a:srgbClr val="2F7A5F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307238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</a:t>
            </a:r>
            <a:endParaRPr lang="en-US" sz="2900" dirty="0"/>
          </a:p>
        </p:txBody>
      </p:sp>
      <p:sp>
        <p:nvSpPr>
          <p:cNvPr id="11" name="Text 9"/>
          <p:cNvSpPr txBox="1"/>
          <p:nvPr/>
        </p:nvSpPr>
        <p:spPr>
          <a:xfrm>
            <a:off x="4736592" y="3072384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столько остаётся, если держать условия кейса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 rot="10800000">
            <a:off x="1243584" y="3931920"/>
            <a:ext cx="164592" cy="164592"/>
          </a:xfrm>
          <a:prstGeom prst="triangle">
            <a:avLst/>
          </a:prstGeom>
          <a:solidFill>
            <a:srgbClr val="2F7A5F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4169664"/>
            <a:ext cx="2011680" cy="804672"/>
          </a:xfrm>
          <a:prstGeom prst="roundRect">
            <a:avLst>
              <a:gd name="adj" fmla="val 11364"/>
            </a:avLst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416966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8130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900" dirty="0"/>
          </a:p>
        </p:txBody>
      </p:sp>
      <p:sp>
        <p:nvSpPr>
          <p:cNvPr id="15" name="Text 13"/>
          <p:cNvSpPr txBox="1"/>
          <p:nvPr/>
        </p:nvSpPr>
        <p:spPr>
          <a:xfrm>
            <a:off x="2816352" y="4169664"/>
            <a:ext cx="3840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тот, который мы предлагаем региону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5358384"/>
            <a:ext cx="11055096" cy="694944"/>
          </a:xfrm>
          <a:prstGeom prst="roundRect">
            <a:avLst>
              <a:gd name="adj" fmla="val 13158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5586984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170432" y="535838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Заменить лот и пересчитать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5586984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828032" y="535838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Переключить сценарий бюджета</a:t>
            </a:r>
            <a:endParaRPr lang="en-US" sz="11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5586984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485632" y="535838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Выгрузить результат для организаторов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566928" y="63825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Инструмент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ВЫБОР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 выбирали не максимум, а баланс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Каждая точка — портфель, который проходит условия при урезанном бюджете.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70432" y="5504688"/>
            <a:ext cx="6528816" cy="5486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4048" y="539496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1 000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170432" y="4645152"/>
            <a:ext cx="6528816" cy="5486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84048" y="4535424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1 100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70432" y="3785616"/>
            <a:ext cx="6528816" cy="5486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84048" y="3675888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1 200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170432" y="2926080"/>
            <a:ext cx="6528816" cy="5486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4048" y="281635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1 300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170432" y="2066544"/>
            <a:ext cx="6528816" cy="5486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84048" y="195681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1 400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1938528" y="559612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1 130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026664" y="559612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0" y="559612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1 150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559612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1 160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291072" y="559612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1 170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" y="1737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общественная польза, млн ₽ в год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321808" y="583387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стартовые затраты, млн 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99248" y="1975104"/>
            <a:ext cx="12802" cy="3529584"/>
          </a:xfrm>
          <a:prstGeom prst="rect">
            <a:avLst/>
          </a:prstGeom>
          <a:solidFill>
            <a:srgbClr val="CC74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230368" y="1664208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C74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предел бюджета в стрессе 1 180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39725" y="337486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1488" y="335767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76505" y="3591471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42336" y="319608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67149" y="421033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96742" y="318061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52674" y="355880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32979" y="381495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99895" y="3034491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8878" y="390090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5726" y="2639105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87386" y="379947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43318" y="417767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24708" y="350551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4811" y="3031053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20133" y="2623633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80743" y="340924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76065" y="300182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9115" y="3490045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35047" y="3868241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590642" y="263566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46574" y="301386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61590" y="324765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56912" y="284023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815895" y="370664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427421" y="285227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52234" y="386652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81828" y="283679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947556" y="345910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37760" y="321499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206539" y="432551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62471" y="486358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18065" y="347113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836572" y="533804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80303" y="228325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84981" y="269067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228301" y="446819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163013" y="5214275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35150" y="361897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39285" y="314966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50812" y="229529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72472" y="345566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328404" y="383386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890979" y="532257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00980" y="322358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282708" y="445272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738640" y="483092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999793" y="543087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005218" y="227981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1150" y="265801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155387" y="320811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11319" y="3586313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119488" y="466932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054200" y="541540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841998" y="249642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992167" y="3424721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957352" y="5269285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510132" y="5288195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523183" y="487389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32642" y="311528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382811" y="404358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251149" y="498220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642878" y="411234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577590" y="485842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033522" y="523662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795217" y="465041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515557" y="2867741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40913" y="401436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61048" y="425503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67354" y="389058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23286" y="4268785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166269" y="453008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14370" y="507503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406744" y="361897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733184" y="3495203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189116" y="387339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415455" y="4239561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732099" y="413469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871387" y="461775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461150" y="360350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917082" y="398170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786506" y="411922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242438" y="449742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527524" y="3380025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252234" y="445616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447014" y="545150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882268" y="526584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937760" y="451805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448099" y="487046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012844" y="505612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904031" y="524865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642878" y="507503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527524" y="3550213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067251" y="504064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523183" y="541884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786506" y="4416625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284878" y="5087063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775625" y="389918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352337" y="402123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299015" y="383729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339285" y="507159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904031" y="5257251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795217" y="544978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080303" y="412954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03693" y="351755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146676" y="377884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451354" y="418627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6406744" y="400576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862676" y="4383963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405658" y="464526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42438" y="492547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808269" y="453008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7527524" y="415360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62676" y="451461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27421" y="4700272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318608" y="489280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090099" y="5379305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709251" y="528475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699455" y="4731215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5655930" y="498391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299015" y="431691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5383896" y="5092220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5710337" y="496844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66269" y="5346643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451354" y="422924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090099" y="5350081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94337" y="4490545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581930" y="4363334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22846" y="417423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375185" y="428425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222846" y="468651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070507" y="4628071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222846" y="5166141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538405" y="443209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516642" y="4879056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7299015" y="5133478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841998" y="539477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7375185" y="5035491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560168" y="4810293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451354" y="5002829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841998" y="5394777"/>
            <a:ext cx="82296" cy="82296"/>
          </a:xfrm>
          <a:prstGeom prst="ellipse">
            <a:avLst/>
          </a:prstGeom>
          <a:solidFill>
            <a:srgbClr val="2F7A5F">
              <a:alpha val="55000"/>
            </a:srgbClr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40793" y="3698199"/>
            <a:ext cx="192024" cy="192024"/>
          </a:xfrm>
          <a:prstGeom prst="ellipse">
            <a:avLst/>
          </a:prstGeom>
          <a:solidFill>
            <a:srgbClr val="C39E53"/>
          </a:solidFill>
          <a:ln w="19050">
            <a:solidFill>
              <a:srgbClr val="08130E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2383109" y="3483315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39E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первый по баллу модели</a:t>
            </a:r>
            <a:endParaRPr lang="en-US" sz="950" dirty="0"/>
          </a:p>
        </p:txBody>
      </p:sp>
      <p:sp>
        <p:nvSpPr>
          <p:cNvPr id="167" name="Shape 165"/>
          <p:cNvSpPr/>
          <p:nvPr/>
        </p:nvSpPr>
        <p:spPr>
          <a:xfrm>
            <a:off x="3250692" y="2924617"/>
            <a:ext cx="192024" cy="192024"/>
          </a:xfrm>
          <a:prstGeom prst="ellipse">
            <a:avLst/>
          </a:prstGeom>
          <a:solidFill>
            <a:srgbClr val="55B894"/>
          </a:solidFill>
          <a:ln w="19050">
            <a:solidFill>
              <a:srgbClr val="08130E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3511296" y="2929189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выбор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8211312" y="1847088"/>
            <a:ext cx="3410712" cy="3657600"/>
          </a:xfrm>
          <a:prstGeom prst="roundRect">
            <a:avLst>
              <a:gd name="adj" fmla="val 2681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8485632" y="20665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этот</a:t>
            </a:r>
            <a:endParaRPr lang="en-US" sz="1400" dirty="0"/>
          </a:p>
        </p:txBody>
      </p:sp>
      <p:sp>
        <p:nvSpPr>
          <p:cNvPr id="171" name="Shape 169"/>
          <p:cNvSpPr/>
          <p:nvPr/>
        </p:nvSpPr>
        <p:spPr>
          <a:xfrm>
            <a:off x="8503920" y="2615184"/>
            <a:ext cx="91440" cy="91440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8741664" y="2523744"/>
            <a:ext cx="2615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Больше общественной пользы, чем у более дешёвых вариантов</a:t>
            </a:r>
            <a:endParaRPr lang="en-US" sz="1100" dirty="0"/>
          </a:p>
        </p:txBody>
      </p:sp>
      <p:sp>
        <p:nvSpPr>
          <p:cNvPr id="173" name="Shape 171"/>
          <p:cNvSpPr/>
          <p:nvPr/>
        </p:nvSpPr>
        <p:spPr>
          <a:xfrm>
            <a:off x="8503920" y="3182112"/>
            <a:ext cx="91440" cy="91440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8741664" y="3090672"/>
            <a:ext cx="2615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Денег хватает, чтобы содержать все четыре сервиса</a:t>
            </a:r>
            <a:endParaRPr lang="en-US" sz="1100" dirty="0"/>
          </a:p>
        </p:txBody>
      </p:sp>
      <p:sp>
        <p:nvSpPr>
          <p:cNvPr id="175" name="Shape 173"/>
          <p:cNvSpPr/>
          <p:nvPr/>
        </p:nvSpPr>
        <p:spPr>
          <a:xfrm>
            <a:off x="8503920" y="3749040"/>
            <a:ext cx="91440" cy="91440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8741664" y="3657600"/>
            <a:ext cx="2615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Остаётся запас, если бюджет урежут</a:t>
            </a:r>
            <a:endParaRPr lang="en-US" sz="1100" dirty="0"/>
          </a:p>
        </p:txBody>
      </p:sp>
      <p:sp>
        <p:nvSpPr>
          <p:cNvPr id="177" name="Shape 175"/>
          <p:cNvSpPr/>
          <p:nvPr/>
        </p:nvSpPr>
        <p:spPr>
          <a:xfrm>
            <a:off x="8485632" y="4297680"/>
            <a:ext cx="2862072" cy="7315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8485632" y="44439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+90 млн ₽ пользы в год</a:t>
            </a:r>
            <a:endParaRPr lang="en-US" sz="1500" dirty="0"/>
          </a:p>
        </p:txBody>
      </p:sp>
      <p:sp>
        <p:nvSpPr>
          <p:cNvPr id="179" name="Text 177"/>
          <p:cNvSpPr txBox="1"/>
          <p:nvPr/>
        </p:nvSpPr>
        <p:spPr>
          <a:xfrm>
            <a:off x="8485632" y="4754880"/>
            <a:ext cx="2862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сравнению с первым по баллу вариантом: он дешевле, но переводит прикладные сервисы в коммерческий режим и срезает общедоступную часть.</a:t>
            </a:r>
            <a:endParaRPr lang="en-US" sz="1000" dirty="0"/>
          </a:p>
        </p:txBody>
      </p:sp>
      <p:sp>
        <p:nvSpPr>
          <p:cNvPr id="180" name="Text 178"/>
          <p:cNvSpPr txBox="1"/>
          <p:nvPr/>
        </p:nvSpPr>
        <p:spPr>
          <a:xfrm>
            <a:off x="566928" y="63825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Сравнение вариантов</a:t>
            </a:r>
            <a:endParaRPr lang="en-US" sz="900" dirty="0"/>
          </a:p>
        </p:txBody>
      </p:sp>
      <p:sp>
        <p:nvSpPr>
          <p:cNvPr id="181" name="Text 179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УСЛОВИЯ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Условия кейса видно на одном экране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Инструмент показывает не только результат, но и то, сколько до предела осталось.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773936"/>
            <a:ext cx="3547872" cy="1133856"/>
          </a:xfrm>
          <a:prstGeom prst="roundRect">
            <a:avLst>
              <a:gd name="adj" fmla="val 806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993392"/>
            <a:ext cx="310896" cy="31089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" y="2061972"/>
            <a:ext cx="173736" cy="1737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25296" y="1956816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лота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212848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 ровно столько и нужно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225296" y="2560320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1E3228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25296" y="2560320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61488" y="246888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315968" y="1773936"/>
            <a:ext cx="3547872" cy="1133856"/>
          </a:xfrm>
          <a:prstGeom prst="roundRect">
            <a:avLst>
              <a:gd name="adj" fmla="val 806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35424" y="1993392"/>
            <a:ext cx="310896" cy="31089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04" y="2061972"/>
            <a:ext cx="173736" cy="1737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974336" y="1956816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Территории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4974336" y="2212848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при минимуме 3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974336" y="2560320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1E3228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974336" y="2560320"/>
            <a:ext cx="1056132" cy="100584"/>
          </a:xfrm>
          <a:prstGeom prst="roundRect">
            <a:avLst>
              <a:gd name="adj" fmla="val 45455"/>
            </a:avLst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10528" y="246888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1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065008" y="1773936"/>
            <a:ext cx="3547872" cy="1133856"/>
          </a:xfrm>
          <a:prstGeom prst="roundRect">
            <a:avLst>
              <a:gd name="adj" fmla="val 806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284464" y="1993392"/>
            <a:ext cx="310896" cy="31089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044" y="2061972"/>
            <a:ext cx="173736" cy="17373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723376" y="1956816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Технологические группы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8723376" y="2212848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при минимуме 2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8723376" y="2560320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1E3228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723376" y="2560320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259568" y="2468880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566928" y="3090672"/>
            <a:ext cx="3547872" cy="1133856"/>
          </a:xfrm>
          <a:prstGeom prst="roundRect">
            <a:avLst>
              <a:gd name="adj" fmla="val 806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86384" y="3310128"/>
            <a:ext cx="310896" cy="31089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" y="3378708"/>
            <a:ext cx="173736" cy="17373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225296" y="3273552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Общедоступные сервисы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1225296" y="35295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при минимуме 2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1225296" y="3877056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1E3228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225296" y="3877056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2761488" y="378561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4315968" y="3090672"/>
            <a:ext cx="3547872" cy="1133856"/>
          </a:xfrm>
          <a:prstGeom prst="roundRect">
            <a:avLst>
              <a:gd name="adj" fmla="val 806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4535424" y="3310128"/>
            <a:ext cx="310896" cy="31089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C39E53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4004" y="3378708"/>
            <a:ext cx="173736" cy="173736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4974336" y="3273552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Стартовые затраты в стрессе</a:t>
            </a:r>
            <a:endParaRPr lang="en-US" sz="1150" dirty="0"/>
          </a:p>
        </p:txBody>
      </p:sp>
      <p:sp>
        <p:nvSpPr>
          <p:cNvPr id="41" name="Text 34"/>
          <p:cNvSpPr txBox="1"/>
          <p:nvPr/>
        </p:nvSpPr>
        <p:spPr>
          <a:xfrm>
            <a:off x="4974336" y="35295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 при пределе 1 180</a:t>
            </a:r>
            <a:endParaRPr lang="en-US" sz="1050" dirty="0"/>
          </a:p>
        </p:txBody>
      </p:sp>
      <p:sp>
        <p:nvSpPr>
          <p:cNvPr id="42" name="Shape 35"/>
          <p:cNvSpPr/>
          <p:nvPr/>
        </p:nvSpPr>
        <p:spPr>
          <a:xfrm>
            <a:off x="4974336" y="3877056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1E3228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4974336" y="3877056"/>
            <a:ext cx="1360441" cy="100584"/>
          </a:xfrm>
          <a:prstGeom prst="roundRect">
            <a:avLst>
              <a:gd name="adj" fmla="val 45455"/>
            </a:avLst>
          </a:prstGeom>
          <a:solidFill>
            <a:srgbClr val="C39E53"/>
          </a:solidFill>
          <a:ln w="12700">
            <a:solidFill>
              <a:srgbClr val="C39E53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510528" y="378561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39E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40</a:t>
            </a:r>
            <a:endParaRPr lang="en-US" sz="950" dirty="0"/>
          </a:p>
        </p:txBody>
      </p:sp>
      <p:sp>
        <p:nvSpPr>
          <p:cNvPr id="45" name="Shape 38"/>
          <p:cNvSpPr/>
          <p:nvPr/>
        </p:nvSpPr>
        <p:spPr>
          <a:xfrm>
            <a:off x="8065008" y="3090672"/>
            <a:ext cx="3547872" cy="1133856"/>
          </a:xfrm>
          <a:prstGeom prst="roundRect">
            <a:avLst>
              <a:gd name="adj" fmla="val 806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8284464" y="3310128"/>
            <a:ext cx="310896" cy="31089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044" y="3378708"/>
            <a:ext cx="173736" cy="173736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8723376" y="3273552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Содержание в год</a:t>
            </a:r>
            <a:endParaRPr lang="en-US" sz="1150" dirty="0"/>
          </a:p>
        </p:txBody>
      </p:sp>
      <p:sp>
        <p:nvSpPr>
          <p:cNvPr id="49" name="Text 41"/>
          <p:cNvSpPr txBox="1"/>
          <p:nvPr/>
        </p:nvSpPr>
        <p:spPr>
          <a:xfrm>
            <a:off x="8723376" y="35295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313 при пределе 360</a:t>
            </a:r>
            <a:endParaRPr lang="en-US" sz="1050" dirty="0"/>
          </a:p>
        </p:txBody>
      </p:sp>
      <p:sp>
        <p:nvSpPr>
          <p:cNvPr id="50" name="Shape 42"/>
          <p:cNvSpPr/>
          <p:nvPr/>
        </p:nvSpPr>
        <p:spPr>
          <a:xfrm>
            <a:off x="8723376" y="3877056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1E3228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8723376" y="3877056"/>
            <a:ext cx="1224331" cy="100584"/>
          </a:xfrm>
          <a:prstGeom prst="roundRect">
            <a:avLst>
              <a:gd name="adj" fmla="val 45455"/>
            </a:avLst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10259568" y="378561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47</a:t>
            </a:r>
            <a:endParaRPr lang="en-US" sz="950" dirty="0"/>
          </a:p>
        </p:txBody>
      </p:sp>
      <p:sp>
        <p:nvSpPr>
          <p:cNvPr id="53" name="Shape 45"/>
          <p:cNvSpPr/>
          <p:nvPr/>
        </p:nvSpPr>
        <p:spPr>
          <a:xfrm>
            <a:off x="566928" y="4407408"/>
            <a:ext cx="3547872" cy="1133856"/>
          </a:xfrm>
          <a:prstGeom prst="roundRect">
            <a:avLst>
              <a:gd name="adj" fmla="val 806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786384" y="4626864"/>
            <a:ext cx="310896" cy="31089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964" y="4695444"/>
            <a:ext cx="173736" cy="173736"/>
          </a:xfrm>
          <a:prstGeom prst="rect">
            <a:avLst/>
          </a:prstGeom>
        </p:spPr>
      </p:pic>
      <p:sp>
        <p:nvSpPr>
          <p:cNvPr id="56" name="Text 47"/>
          <p:cNvSpPr txBox="1"/>
          <p:nvPr/>
        </p:nvSpPr>
        <p:spPr>
          <a:xfrm>
            <a:off x="1225296" y="4590288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Общественная польза</a:t>
            </a:r>
            <a:endParaRPr lang="en-US" sz="1150" dirty="0"/>
          </a:p>
        </p:txBody>
      </p:sp>
      <p:sp>
        <p:nvSpPr>
          <p:cNvPr id="57" name="Text 48"/>
          <p:cNvSpPr txBox="1"/>
          <p:nvPr/>
        </p:nvSpPr>
        <p:spPr>
          <a:xfrm>
            <a:off x="1225296" y="484632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1 289 при минимуме 1 000</a:t>
            </a:r>
            <a:endParaRPr lang="en-US" sz="1050" dirty="0"/>
          </a:p>
        </p:txBody>
      </p:sp>
      <p:sp>
        <p:nvSpPr>
          <p:cNvPr id="58" name="Shape 49"/>
          <p:cNvSpPr/>
          <p:nvPr/>
        </p:nvSpPr>
        <p:spPr>
          <a:xfrm>
            <a:off x="1225296" y="5193792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1E3228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59" name="Shape 50"/>
          <p:cNvSpPr/>
          <p:nvPr/>
        </p:nvSpPr>
        <p:spPr>
          <a:xfrm>
            <a:off x="1225296" y="5193792"/>
            <a:ext cx="1092456" cy="100584"/>
          </a:xfrm>
          <a:prstGeom prst="roundRect">
            <a:avLst>
              <a:gd name="adj" fmla="val 45455"/>
            </a:avLst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2761488" y="510235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289</a:t>
            </a:r>
            <a:endParaRPr lang="en-US" sz="950" dirty="0"/>
          </a:p>
        </p:txBody>
      </p:sp>
      <p:sp>
        <p:nvSpPr>
          <p:cNvPr id="61" name="Shape 52"/>
          <p:cNvSpPr/>
          <p:nvPr/>
        </p:nvSpPr>
        <p:spPr>
          <a:xfrm>
            <a:off x="4315968" y="4407408"/>
            <a:ext cx="3547872" cy="1133856"/>
          </a:xfrm>
          <a:prstGeom prst="roundRect">
            <a:avLst>
              <a:gd name="adj" fmla="val 806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4535424" y="4626864"/>
            <a:ext cx="310896" cy="31089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6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4004" y="4695444"/>
            <a:ext cx="173736" cy="173736"/>
          </a:xfrm>
          <a:prstGeom prst="rect">
            <a:avLst/>
          </a:prstGeom>
        </p:spPr>
      </p:pic>
      <p:sp>
        <p:nvSpPr>
          <p:cNvPr id="64" name="Text 54"/>
          <p:cNvSpPr txBox="1"/>
          <p:nvPr/>
        </p:nvSpPr>
        <p:spPr>
          <a:xfrm>
            <a:off x="4974336" y="4590288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 к содержанию</a:t>
            </a:r>
            <a:endParaRPr lang="en-US" sz="1150" dirty="0"/>
          </a:p>
        </p:txBody>
      </p:sp>
      <p:sp>
        <p:nvSpPr>
          <p:cNvPr id="65" name="Text 55"/>
          <p:cNvSpPr txBox="1"/>
          <p:nvPr/>
        </p:nvSpPr>
        <p:spPr>
          <a:xfrm>
            <a:off x="4974336" y="484632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1,18 при минимуме 0,60</a:t>
            </a:r>
            <a:endParaRPr lang="en-US" sz="1050" dirty="0"/>
          </a:p>
        </p:txBody>
      </p:sp>
      <p:sp>
        <p:nvSpPr>
          <p:cNvPr id="66" name="Shape 56"/>
          <p:cNvSpPr/>
          <p:nvPr/>
        </p:nvSpPr>
        <p:spPr>
          <a:xfrm>
            <a:off x="4974336" y="5193792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1E3228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67" name="Shape 57"/>
          <p:cNvSpPr/>
          <p:nvPr/>
        </p:nvSpPr>
        <p:spPr>
          <a:xfrm>
            <a:off x="4974336" y="5193792"/>
            <a:ext cx="713780" cy="100584"/>
          </a:xfrm>
          <a:prstGeom prst="roundRect">
            <a:avLst>
              <a:gd name="adj" fmla="val 45455"/>
            </a:avLst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8" name="Text 58"/>
          <p:cNvSpPr txBox="1"/>
          <p:nvPr/>
        </p:nvSpPr>
        <p:spPr>
          <a:xfrm>
            <a:off x="6510528" y="510235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0,58</a:t>
            </a:r>
            <a:endParaRPr lang="en-US" sz="950" dirty="0"/>
          </a:p>
        </p:txBody>
      </p:sp>
      <p:sp>
        <p:nvSpPr>
          <p:cNvPr id="69" name="Shape 59"/>
          <p:cNvSpPr/>
          <p:nvPr/>
        </p:nvSpPr>
        <p:spPr>
          <a:xfrm>
            <a:off x="8065008" y="4407408"/>
            <a:ext cx="3547872" cy="1133856"/>
          </a:xfrm>
          <a:prstGeom prst="roundRect">
            <a:avLst>
              <a:gd name="adj" fmla="val 806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70" name="Shape 60"/>
          <p:cNvSpPr/>
          <p:nvPr/>
        </p:nvSpPr>
        <p:spPr>
          <a:xfrm>
            <a:off x="8284464" y="4626864"/>
            <a:ext cx="310896" cy="310896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7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3044" y="4695444"/>
            <a:ext cx="173736" cy="173736"/>
          </a:xfrm>
          <a:prstGeom prst="rect">
            <a:avLst/>
          </a:prstGeom>
        </p:spPr>
      </p:pic>
      <p:sp>
        <p:nvSpPr>
          <p:cNvPr id="72" name="Text 61"/>
          <p:cNvSpPr txBox="1"/>
          <p:nvPr/>
        </p:nvSpPr>
        <p:spPr>
          <a:xfrm>
            <a:off x="8723376" y="4590288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Тиражируемость</a:t>
            </a:r>
            <a:endParaRPr lang="en-US" sz="1150" dirty="0"/>
          </a:p>
        </p:txBody>
      </p:sp>
      <p:sp>
        <p:nvSpPr>
          <p:cNvPr id="73" name="Text 62"/>
          <p:cNvSpPr txBox="1"/>
          <p:nvPr/>
        </p:nvSpPr>
        <p:spPr>
          <a:xfrm>
            <a:off x="8723376" y="4846320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0,73 при минимуме 0,63</a:t>
            </a:r>
            <a:endParaRPr lang="en-US" sz="1050" dirty="0"/>
          </a:p>
        </p:txBody>
      </p:sp>
      <p:sp>
        <p:nvSpPr>
          <p:cNvPr id="74" name="Shape 63"/>
          <p:cNvSpPr/>
          <p:nvPr/>
        </p:nvSpPr>
        <p:spPr>
          <a:xfrm>
            <a:off x="8723376" y="5193792"/>
            <a:ext cx="1408176" cy="100584"/>
          </a:xfrm>
          <a:prstGeom prst="roundRect">
            <a:avLst>
              <a:gd name="adj" fmla="val 45455"/>
            </a:avLst>
          </a:prstGeom>
          <a:solidFill>
            <a:srgbClr val="1E3228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75" name="Shape 64"/>
          <p:cNvSpPr/>
          <p:nvPr/>
        </p:nvSpPr>
        <p:spPr>
          <a:xfrm>
            <a:off x="8723376" y="5193792"/>
            <a:ext cx="1215275" cy="100584"/>
          </a:xfrm>
          <a:prstGeom prst="roundRect">
            <a:avLst>
              <a:gd name="adj" fmla="val 45455"/>
            </a:avLst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6" name="Text 65"/>
          <p:cNvSpPr txBox="1"/>
          <p:nvPr/>
        </p:nvSpPr>
        <p:spPr>
          <a:xfrm>
            <a:off x="10259568" y="510235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0,10</a:t>
            </a:r>
            <a:endParaRPr lang="en-US" sz="950" dirty="0"/>
          </a:p>
        </p:txBody>
      </p:sp>
      <p:sp>
        <p:nvSpPr>
          <p:cNvPr id="77" name="Shape 66"/>
          <p:cNvSpPr/>
          <p:nvPr/>
        </p:nvSpPr>
        <p:spPr>
          <a:xfrm>
            <a:off x="566928" y="5577840"/>
            <a:ext cx="11055096" cy="457200"/>
          </a:xfrm>
          <a:prstGeom prst="roundRect">
            <a:avLst>
              <a:gd name="adj" fmla="val 16000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78" name="Text 67"/>
          <p:cNvSpPr txBox="1"/>
          <p:nvPr/>
        </p:nvSpPr>
        <p:spPr>
          <a:xfrm>
            <a:off x="658368" y="5577840"/>
            <a:ext cx="10872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Тоньше всего запас по стартовым затратам в стрессе: 40 млн ₽. Чем полнее полоска, тем ближе предел.</a:t>
            </a:r>
            <a:endParaRPr lang="en-US" sz="1100" dirty="0"/>
          </a:p>
        </p:txBody>
      </p:sp>
      <p:sp>
        <p:nvSpPr>
          <p:cNvPr id="79" name="Text 68"/>
          <p:cNvSpPr txBox="1"/>
          <p:nvPr/>
        </p:nvSpPr>
        <p:spPr>
          <a:xfrm>
            <a:off x="566928" y="63825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Условия кейса</a:t>
            </a:r>
            <a:endParaRPr lang="en-US" sz="900" dirty="0"/>
          </a:p>
        </p:txBody>
      </p:sp>
      <p:sp>
        <p:nvSpPr>
          <p:cNvPr id="80" name="Text 69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ДЕНЬГИ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Кто платит за старт и кто платит за год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контура на старте и положительный баланс в год.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39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5449824" cy="786384"/>
          </a:xfrm>
          <a:prstGeom prst="roundRect">
            <a:avLst>
              <a:gd name="adj" fmla="val 11628"/>
            </a:avLst>
          </a:prstGeom>
          <a:solidFill>
            <a:srgbClr val="2F7A5F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103120"/>
            <a:ext cx="2984313" cy="786384"/>
          </a:xfrm>
          <a:prstGeom prst="roundRect">
            <a:avLst>
              <a:gd name="adj" fmla="val 11628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03120"/>
            <a:ext cx="1463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630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70697" y="2103120"/>
            <a:ext cx="1463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510</a:t>
            </a:r>
            <a:endParaRPr lang="en-US" sz="17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072384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22960" y="30358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за FIRE и ENV</a:t>
            </a:r>
            <a:endParaRPr lang="en-US" sz="10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241" y="3072384"/>
            <a:ext cx="182880" cy="1828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807273" y="30358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Частный партнёр за AGRI и TRANS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3401568"/>
            <a:ext cx="5449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вместе 1 140 млн ₽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739128" y="177393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Год, млн ₽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013448" y="2432304"/>
            <a:ext cx="1188720" cy="1828800"/>
          </a:xfrm>
          <a:prstGeom prst="roundRect">
            <a:avLst>
              <a:gd name="adj" fmla="val 4615"/>
            </a:avLst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013448" y="2103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370,5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922008" y="43525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567928" y="2716126"/>
            <a:ext cx="1188720" cy="1544978"/>
          </a:xfrm>
          <a:prstGeom prst="roundRect">
            <a:avLst>
              <a:gd name="adj" fmla="val 4615"/>
            </a:avLst>
          </a:prstGeom>
          <a:solidFill>
            <a:srgbClr val="2F7A5F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567928" y="238694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313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8476488" y="43525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содержание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10030968" y="2834640"/>
            <a:ext cx="1572768" cy="1097280"/>
          </a:xfrm>
          <a:prstGeom prst="roundRect">
            <a:avLst>
              <a:gd name="adj" fmla="val 8333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30968" y="298094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+57,5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10030968" y="3419856"/>
            <a:ext cx="1572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остаётся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год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566928" y="4956048"/>
            <a:ext cx="11055096" cy="7315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566928" y="512064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лет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566928" y="544982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срок партнёрства: за семь частный контур не возвращает вложенное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251960" y="512064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2027–2033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4251960" y="544982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горизонт расчёта, без дисконтирования и налогов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7936992" y="512064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7936992" y="544982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коммерческая часть пока гипотеза, её проверяют пилот и тарифный тест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66928" y="63825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Финансирование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УСТОЙЧИВОСТЬ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Если бюджет урежут, состав не меняется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стрессовом сценарии падает предел затрат, а стоимость сервисов остаётся прежней.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615184"/>
            <a:ext cx="11055096" cy="713232"/>
          </a:xfrm>
          <a:prstGeom prst="roundRect">
            <a:avLst>
              <a:gd name="adj" fmla="val 12821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615184"/>
            <a:ext cx="9694469" cy="713232"/>
          </a:xfrm>
          <a:prstGeom prst="roundRect">
            <a:avLst>
              <a:gd name="adj" fmla="val 12821"/>
            </a:avLst>
          </a:prstGeom>
          <a:solidFill>
            <a:srgbClr val="2F7A5F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61397" y="2615184"/>
            <a:ext cx="340157" cy="713232"/>
          </a:xfrm>
          <a:prstGeom prst="rect">
            <a:avLst/>
          </a:prstGeom>
          <a:solidFill>
            <a:srgbClr val="C39E53">
              <a:alpha val="7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615184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старт 1 140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622024" y="2340864"/>
            <a:ext cx="12802" cy="1261872"/>
          </a:xfrm>
          <a:prstGeom prst="rect">
            <a:avLst/>
          </a:prstGeom>
          <a:solidFill>
            <a:srgbClr val="7E968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53144" y="16824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обычный бюджет 1 300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601554" y="2340864"/>
            <a:ext cx="12802" cy="1261872"/>
          </a:xfrm>
          <a:prstGeom prst="rect">
            <a:avLst/>
          </a:prstGeom>
          <a:solidFill>
            <a:srgbClr val="CC74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32674" y="202996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C74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урезанный бюджет 1 180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986370" y="347472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39E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40 млн ₽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877056"/>
            <a:ext cx="5449824" cy="1572768"/>
          </a:xfrm>
          <a:prstGeom prst="roundRect">
            <a:avLst>
              <a:gd name="adj" fmla="val 5814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4114800"/>
            <a:ext cx="566928" cy="566928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425196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554480" y="41330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Состав сохраняем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554480" y="4425696"/>
            <a:ext cx="4206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нужно заново согласовывать пользователей, доступ и договоры. Портфель остаётся тем же, просто с меньшим запасом.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172200" y="3877056"/>
            <a:ext cx="5449824" cy="1572768"/>
          </a:xfrm>
          <a:prstGeom prst="roundRect">
            <a:avLst>
              <a:gd name="adj" fmla="val 5814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4114800"/>
            <a:ext cx="566928" cy="566928"/>
          </a:xfrm>
          <a:prstGeom prst="ellipse">
            <a:avLst/>
          </a:prstGeom>
          <a:solidFill>
            <a:srgbClr val="17271F"/>
          </a:solidFill>
          <a:ln w="12700">
            <a:solidFill>
              <a:srgbClr val="C39E53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4251960"/>
            <a:ext cx="292608" cy="29260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7159752" y="41330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9E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Если спрос не придёт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7159752" y="4425696"/>
            <a:ext cx="4206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 посчитали и такой вариант: без коммерческой выручки содержание сервисов недофинансировано на 123 млн ₽ в год, и покрывать это придётся заказчику.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566928" y="5614416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Второй сценарий — наша собственная проверка, а не требование кейса.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566928" y="63825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Устойчивость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ОРГАНИЗАЦИЯ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оператор, сменяемые поставщики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 держит стандарты и данные, конкуренция сохраняется.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3401568" cy="1700784"/>
          </a:xfrm>
          <a:prstGeom prst="roundRect">
            <a:avLst>
              <a:gd name="adj" fmla="val 5376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56816"/>
            <a:ext cx="566928" cy="566928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93976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17904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670048"/>
            <a:ext cx="2889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стандарты, права на историю данных, правила доступа и приёмка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 rot="5400000">
            <a:off x="4114800" y="2487168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43984" y="1737360"/>
            <a:ext cx="3401568" cy="1700784"/>
          </a:xfrm>
          <a:prstGeom prst="roundRect">
            <a:avLst>
              <a:gd name="adj" fmla="val 5376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0016" y="1956816"/>
            <a:ext cx="566928" cy="566928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09397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94960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700016" y="2670048"/>
            <a:ext cx="2889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единый сервис, SLA, журналы, интеграции и поддержка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 rot="5400000">
            <a:off x="7991856" y="2487168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21040" y="1737360"/>
            <a:ext cx="3401568" cy="1700784"/>
          </a:xfrm>
          <a:prstGeom prst="roundRect">
            <a:avLst>
              <a:gd name="adj" fmla="val 5376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77072" y="1956816"/>
            <a:ext cx="566928" cy="566928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2093976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272016" y="199339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Поставщики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577072" y="2670048"/>
            <a:ext cx="2889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отдельные компоненты и периоды услуги, конкурируют между собой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66928" y="3657600"/>
            <a:ext cx="5449824" cy="1737360"/>
          </a:xfrm>
          <a:prstGeom prst="roundRect">
            <a:avLst>
              <a:gd name="adj" fmla="val 5263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22960" y="3877056"/>
            <a:ext cx="566928" cy="566928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01421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517904" y="39136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Когда меняем поставщика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822960" y="4553712"/>
            <a:ext cx="4937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Повторно нарушен критический SLA, утрачены права на данные или закрыт формат выгрузки. Прежний поставщик отдаёт историю и настройки, новый проходит контрольный пересчёт и период параллельной работы.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6739128" y="3657600"/>
            <a:ext cx="4882896" cy="1737360"/>
          </a:xfrm>
          <a:prstGeom prst="roundRect">
            <a:avLst>
              <a:gd name="adj" fmla="val 5263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995160" y="3877056"/>
            <a:ext cx="566928" cy="566928"/>
          </a:xfrm>
          <a:prstGeom prst="ellipse">
            <a:avLst/>
          </a:prstGeom>
          <a:solidFill>
            <a:srgbClr val="17271F"/>
          </a:solidFill>
          <a:ln w="12700">
            <a:solidFill>
              <a:srgbClr val="C39E53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014216"/>
            <a:ext cx="292608" cy="29260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690104" y="3913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9E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Восемь рисков, у каждого владелец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6995160" y="4590288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086600" y="45902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</a:t>
            </a:r>
            <a:endParaRPr lang="en-US" sz="850" dirty="0"/>
          </a:p>
        </p:txBody>
      </p:sp>
      <p:sp>
        <p:nvSpPr>
          <p:cNvPr id="33" name="Shape 26"/>
          <p:cNvSpPr/>
          <p:nvPr/>
        </p:nvSpPr>
        <p:spPr>
          <a:xfrm>
            <a:off x="8165592" y="4590288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8257032" y="45902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ложный сигнал</a:t>
            </a:r>
            <a:endParaRPr lang="en-US" sz="850" dirty="0"/>
          </a:p>
        </p:txBody>
      </p:sp>
      <p:sp>
        <p:nvSpPr>
          <p:cNvPr id="35" name="Shape 28"/>
          <p:cNvSpPr/>
          <p:nvPr/>
        </p:nvSpPr>
        <p:spPr>
          <a:xfrm>
            <a:off x="9336024" y="4590288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427464" y="45902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</a:t>
            </a:r>
            <a:endParaRPr lang="en-US" sz="850" dirty="0"/>
          </a:p>
        </p:txBody>
      </p:sp>
      <p:sp>
        <p:nvSpPr>
          <p:cNvPr id="37" name="Shape 30"/>
          <p:cNvSpPr/>
          <p:nvPr/>
        </p:nvSpPr>
        <p:spPr>
          <a:xfrm>
            <a:off x="10506456" y="4590288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10597896" y="45902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внедрение</a:t>
            </a:r>
            <a:endParaRPr lang="en-US" sz="850" dirty="0"/>
          </a:p>
        </p:txBody>
      </p:sp>
      <p:sp>
        <p:nvSpPr>
          <p:cNvPr id="39" name="Shape 32"/>
          <p:cNvSpPr/>
          <p:nvPr/>
        </p:nvSpPr>
        <p:spPr>
          <a:xfrm>
            <a:off x="6995160" y="4956048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7086600" y="49560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</a:t>
            </a:r>
            <a:endParaRPr lang="en-US" sz="850" dirty="0"/>
          </a:p>
        </p:txBody>
      </p:sp>
      <p:sp>
        <p:nvSpPr>
          <p:cNvPr id="41" name="Shape 34"/>
          <p:cNvSpPr/>
          <p:nvPr/>
        </p:nvSpPr>
        <p:spPr>
          <a:xfrm>
            <a:off x="8165592" y="4956048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8257032" y="49560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</a:t>
            </a:r>
            <a:endParaRPr lang="en-US" sz="850" dirty="0"/>
          </a:p>
        </p:txBody>
      </p:sp>
      <p:sp>
        <p:nvSpPr>
          <p:cNvPr id="43" name="Shape 36"/>
          <p:cNvSpPr/>
          <p:nvPr/>
        </p:nvSpPr>
        <p:spPr>
          <a:xfrm>
            <a:off x="9336024" y="4956048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9427464" y="49560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</a:t>
            </a:r>
            <a:endParaRPr lang="en-US" sz="850" dirty="0"/>
          </a:p>
        </p:txBody>
      </p:sp>
      <p:sp>
        <p:nvSpPr>
          <p:cNvPr id="45" name="Shape 38"/>
          <p:cNvSpPr/>
          <p:nvPr/>
        </p:nvSpPr>
        <p:spPr>
          <a:xfrm>
            <a:off x="10506456" y="4956048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17271F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10597896" y="49560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</a:t>
            </a:r>
            <a:endParaRPr lang="en-US" sz="850" dirty="0"/>
          </a:p>
        </p:txBody>
      </p:sp>
      <p:sp>
        <p:nvSpPr>
          <p:cNvPr id="47" name="Text 40"/>
          <p:cNvSpPr txBox="1"/>
          <p:nvPr/>
        </p:nvSpPr>
        <p:spPr>
          <a:xfrm>
            <a:off x="566928" y="5541264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каждого риска записаны признак, мера и тот, кто за неё отвечает.</a:t>
            </a:r>
            <a:endParaRPr lang="en-US" sz="1000" dirty="0"/>
          </a:p>
        </p:txBody>
      </p:sp>
      <p:sp>
        <p:nvSpPr>
          <p:cNvPr id="48" name="Text 41"/>
          <p:cNvSpPr txBox="1"/>
          <p:nvPr/>
        </p:nvSpPr>
        <p:spPr>
          <a:xfrm>
            <a:off x="566928" y="63825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Договорная схема</a:t>
            </a:r>
            <a:endParaRPr lang="en-US" sz="900" dirty="0"/>
          </a:p>
        </p:txBody>
      </p:sp>
      <p:sp>
        <p:nvSpPr>
          <p:cNvPr id="49" name="Text 42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ТИРАЖИРОВАНИЕ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Ядро переносим, регион настраиваем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регион получает готовую основу, а не проект с нуля.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5449824" cy="2889504"/>
          </a:xfrm>
          <a:prstGeom prst="roundRect">
            <a:avLst>
              <a:gd name="adj" fmla="val 316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38528"/>
            <a:ext cx="566928" cy="566928"/>
          </a:xfrm>
          <a:prstGeom prst="ellipse">
            <a:avLst/>
          </a:prstGeom>
          <a:solidFill>
            <a:srgbClr val="17271F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756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9751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Переносим как есть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77824" y="2779776"/>
            <a:ext cx="82296" cy="82296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68833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каталог сервисов и ролей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77824" y="3090672"/>
            <a:ext cx="82296" cy="82296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7280" y="29992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обработку данных и модель событий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77824" y="3401568"/>
            <a:ext cx="82296" cy="82296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7280" y="33101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интерфейсы и форматы выгрузки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7824" y="3712464"/>
            <a:ext cx="82296" cy="82296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97280" y="36210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 и журналирование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7824" y="4023360"/>
            <a:ext cx="82296" cy="82296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97280" y="39319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шаблоны SLA и договоров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77824" y="4334256"/>
            <a:ext cx="82296" cy="82296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97280" y="42428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методику KPI и базу знаний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72200" y="1737360"/>
            <a:ext cx="5449824" cy="2889504"/>
          </a:xfrm>
          <a:prstGeom prst="roundRect">
            <a:avLst>
              <a:gd name="adj" fmla="val 3165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46520" y="1938528"/>
            <a:ext cx="566928" cy="566928"/>
          </a:xfrm>
          <a:prstGeom prst="ellipse">
            <a:avLst/>
          </a:prstGeom>
          <a:solidFill>
            <a:srgbClr val="17271F"/>
          </a:solidFill>
          <a:ln w="12700">
            <a:solidFill>
              <a:srgbClr val="C39E53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075688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159752" y="19751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9E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Настраиваем на месте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6483096" y="2779776"/>
            <a:ext cx="82296" cy="82296"/>
          </a:xfrm>
          <a:prstGeom prst="ellipse">
            <a:avLst/>
          </a:prstGeom>
          <a:solidFill>
            <a:srgbClr val="C39E53"/>
          </a:solidFill>
          <a:ln w="12700">
            <a:solidFill>
              <a:srgbClr val="C39E53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702552" y="268833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границы и сезонные пороги для пожаров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483096" y="3090672"/>
            <a:ext cx="82296" cy="82296"/>
          </a:xfrm>
          <a:prstGeom prst="ellipse">
            <a:avLst/>
          </a:prstGeom>
          <a:solidFill>
            <a:srgbClr val="C39E53"/>
          </a:solidFill>
          <a:ln w="12700">
            <a:solidFill>
              <a:srgbClr val="C39E5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702552" y="29992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зоны и типы событий для экологии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83096" y="3401568"/>
            <a:ext cx="82296" cy="82296"/>
          </a:xfrm>
          <a:prstGeom prst="ellipse">
            <a:avLst/>
          </a:prstGeom>
          <a:solidFill>
            <a:srgbClr val="C39E53"/>
          </a:solidFill>
          <a:ln w="12700">
            <a:solidFill>
              <a:srgbClr val="C39E5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702552" y="33101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поля, культуры и права хозяйств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483096" y="3712464"/>
            <a:ext cx="82296" cy="82296"/>
          </a:xfrm>
          <a:prstGeom prst="ellipse">
            <a:avLst/>
          </a:prstGeom>
          <a:solidFill>
            <a:srgbClr val="C39E53"/>
          </a:solidFill>
          <a:ln w="12700">
            <a:solidFill>
              <a:srgbClr val="C39E5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702552" y="36210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объекты, маршруты и регламент реакции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66928" y="48097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передаём опыт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66928" y="5120640"/>
            <a:ext cx="3346704" cy="512064"/>
          </a:xfrm>
          <a:prstGeom prst="roundRect">
            <a:avLst>
              <a:gd name="adj" fmla="val 14286"/>
            </a:avLst>
          </a:prstGeom>
          <a:solidFill>
            <a:srgbClr val="0F1D17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58368" y="5120640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в регионе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 rot="5400000">
            <a:off x="4041648" y="528523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370832" y="5120640"/>
            <a:ext cx="3346704" cy="512064"/>
          </a:xfrm>
          <a:prstGeom prst="roundRect">
            <a:avLst>
              <a:gd name="adj" fmla="val 14286"/>
            </a:avLst>
          </a:prstGeom>
          <a:solidFill>
            <a:srgbClr val="0F1D17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462272" y="5120640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разбор и обновление ядра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 rot="5400000">
            <a:off x="7845552" y="528523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174736" y="5120640"/>
            <a:ext cx="3346704" cy="512064"/>
          </a:xfrm>
          <a:prstGeom prst="roundRect">
            <a:avLst>
              <a:gd name="adj" fmla="val 14286"/>
            </a:avLst>
          </a:prstGeom>
          <a:solidFill>
            <a:srgbClr val="0F1D17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8266176" y="5120640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регион по шаблону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566928" y="63825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Тиражирование</a:t>
            </a:r>
            <a:endParaRPr lang="en-US" sz="900" dirty="0"/>
          </a:p>
        </p:txBody>
      </p:sp>
      <p:sp>
        <p:nvSpPr>
          <p:cNvPr id="43" name="Text 39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Пять шагов с 2027 по 2033 год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каждого шага есть результат, ответственный и признак завершения.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32688" y="2944368"/>
            <a:ext cx="10323576" cy="10973"/>
          </a:xfrm>
          <a:prstGeom prst="rect">
            <a:avLst/>
          </a:prstGeom>
          <a:solidFill>
            <a:srgbClr val="1E32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2103120"/>
            <a:ext cx="209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2027, первое полугодие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394460" y="2724912"/>
            <a:ext cx="438912" cy="438912"/>
          </a:xfrm>
          <a:prstGeom prst="ellipse">
            <a:avLst/>
          </a:prstGeom>
          <a:solidFill>
            <a:srgbClr val="08130E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94460" y="27249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401568"/>
            <a:ext cx="2093976" cy="1755648"/>
          </a:xfrm>
          <a:prstGeom prst="roundRect">
            <a:avLst>
              <a:gd name="adj" fmla="val 5208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3621024"/>
            <a:ext cx="256032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13232" y="4023360"/>
            <a:ext cx="18013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Заказчики и договоры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4754880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807208" y="2103120"/>
            <a:ext cx="209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2027–2028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634740" y="2724912"/>
            <a:ext cx="438912" cy="438912"/>
          </a:xfrm>
          <a:prstGeom prst="ellipse">
            <a:avLst/>
          </a:prstGeom>
          <a:solidFill>
            <a:srgbClr val="08130E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34740" y="27249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807208" y="3401568"/>
            <a:ext cx="2093976" cy="1755648"/>
          </a:xfrm>
          <a:prstGeom prst="roundRect">
            <a:avLst>
              <a:gd name="adj" fmla="val 5208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3621024"/>
            <a:ext cx="256032" cy="25603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953512" y="4023360"/>
            <a:ext cx="18013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Пилоты по пожарам и экологии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2953512" y="4754880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5047488" y="2103120"/>
            <a:ext cx="209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2028, второе полугодие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875020" y="2724912"/>
            <a:ext cx="438912" cy="438912"/>
          </a:xfrm>
          <a:prstGeom prst="ellipse">
            <a:avLst/>
          </a:prstGeom>
          <a:solidFill>
            <a:srgbClr val="08130E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875020" y="27249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047488" y="3401568"/>
            <a:ext cx="2093976" cy="1755648"/>
          </a:xfrm>
          <a:prstGeom prst="roundRect">
            <a:avLst>
              <a:gd name="adj" fmla="val 5208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460" y="3621024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193792" y="4023360"/>
            <a:ext cx="18013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Разбор пилотов и обновление ядра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5193792" y="4754880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287768" y="2103120"/>
            <a:ext cx="209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2029–2030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8115300" y="2724912"/>
            <a:ext cx="438912" cy="438912"/>
          </a:xfrm>
          <a:prstGeom prst="ellipse">
            <a:avLst/>
          </a:prstGeom>
          <a:solidFill>
            <a:srgbClr val="08130E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115300" y="27249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7287768" y="3401568"/>
            <a:ext cx="2093976" cy="1755648"/>
          </a:xfrm>
          <a:prstGeom prst="roundRect">
            <a:avLst>
              <a:gd name="adj" fmla="val 5208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621024"/>
            <a:ext cx="256032" cy="256032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7434072" y="4023360"/>
            <a:ext cx="18013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 полей и транспорта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7434072" y="4754880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частный партнёр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9528048" y="2103120"/>
            <a:ext cx="2093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2031–2033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10355580" y="2724912"/>
            <a:ext cx="438912" cy="438912"/>
          </a:xfrm>
          <a:prstGeom prst="ellipse">
            <a:avLst/>
          </a:prstGeom>
          <a:solidFill>
            <a:srgbClr val="08130E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10355580" y="27249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9528048" y="3401568"/>
            <a:ext cx="2093976" cy="1755648"/>
          </a:xfrm>
          <a:prstGeom prst="roundRect">
            <a:avLst>
              <a:gd name="adj" fmla="val 5208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7020" y="3621024"/>
            <a:ext cx="256032" cy="256032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674352" y="4023360"/>
            <a:ext cx="18013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 в новые регионы</a:t>
            </a:r>
            <a:endParaRPr lang="en-US" sz="1150" dirty="0"/>
          </a:p>
        </p:txBody>
      </p:sp>
      <p:sp>
        <p:nvSpPr>
          <p:cNvPr id="40" name="Text 33"/>
          <p:cNvSpPr txBox="1"/>
          <p:nvPr/>
        </p:nvSpPr>
        <p:spPr>
          <a:xfrm>
            <a:off x="9674352" y="4754880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566928" y="5431536"/>
            <a:ext cx="11055096" cy="512064"/>
          </a:xfrm>
          <a:prstGeom prst="roundRect">
            <a:avLst>
              <a:gd name="adj" fmla="val 14286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58368" y="5431536"/>
            <a:ext cx="10872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Шаг считается пройденным по принятым KPI и подписанной приёмке. Календарные сроки — наше допущение, а не условие кейса.</a:t>
            </a:r>
            <a:endParaRPr lang="en-US" sz="1100" dirty="0"/>
          </a:p>
        </p:txBody>
      </p:sp>
      <p:sp>
        <p:nvSpPr>
          <p:cNvPr id="43" name="Text 36"/>
          <p:cNvSpPr txBox="1"/>
          <p:nvPr/>
        </p:nvSpPr>
        <p:spPr>
          <a:xfrm>
            <a:off x="566928" y="63825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реализации</a:t>
            </a:r>
            <a:endParaRPr 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Откройте и попробуйте сами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88632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Ничего не зашито: любой состав портфеля считается заново.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2093976" cy="1371600"/>
          </a:xfrm>
          <a:prstGeom prst="roundRect">
            <a:avLst>
              <a:gd name="adj" fmla="val 6667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975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22576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открыть наш портфель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 rot="5400000">
            <a:off x="2660904" y="2432304"/>
            <a:ext cx="146304" cy="146304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07208" y="1828800"/>
            <a:ext cx="2093976" cy="1371600"/>
          </a:xfrm>
          <a:prstGeom prst="roundRect">
            <a:avLst>
              <a:gd name="adj" fmla="val 6667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90088" y="1975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90088" y="2322576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переключить бюджет на урезанный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 rot="5400000">
            <a:off x="4901184" y="2432304"/>
            <a:ext cx="146304" cy="146304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47488" y="1828800"/>
            <a:ext cx="2093976" cy="1371600"/>
          </a:xfrm>
          <a:prstGeom prst="roundRect">
            <a:avLst>
              <a:gd name="adj" fmla="val 6667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30368" y="1975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2322576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заменить любой лот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rot="5400000">
            <a:off x="7141464" y="2432304"/>
            <a:ext cx="146304" cy="146304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87768" y="1828800"/>
            <a:ext cx="2093976" cy="1371600"/>
          </a:xfrm>
          <a:prstGeom prst="roundRect">
            <a:avLst>
              <a:gd name="adj" fmla="val 6667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70648" y="1975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470648" y="2322576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увидеть, что именно сломалось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 rot="5400000">
            <a:off x="9381744" y="2432304"/>
            <a:ext cx="146304" cy="146304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28048" y="1828800"/>
            <a:ext cx="2093976" cy="1371600"/>
          </a:xfrm>
          <a:prstGeom prst="roundRect">
            <a:avLst>
              <a:gd name="adj" fmla="val 6667"/>
            </a:avLst>
          </a:prstGeom>
          <a:solidFill>
            <a:srgbClr val="2F7A5F"/>
          </a:solidFill>
          <a:ln w="12700">
            <a:solidFill>
              <a:srgbClr val="2F7A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10928" y="1975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10928" y="2322576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вернуть портфель обратно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3456432"/>
            <a:ext cx="7589520" cy="1737360"/>
          </a:xfrm>
          <a:prstGeom prst="roundRect">
            <a:avLst>
              <a:gd name="adj" fmla="val 5263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363931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F2E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открыто вместе с инструментом</a:t>
            </a:r>
            <a:endParaRPr lang="en-US" sz="12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4087368"/>
            <a:ext cx="201168" cy="20116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52144" y="40599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записка и одностраничное резюме по стрессу</a:t>
            </a:r>
            <a:endParaRPr lang="en-US" sz="110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4453128"/>
            <a:ext cx="201168" cy="20116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152144" y="442569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расчётный движок, данные организаторов и выгрузка результатов</a:t>
            </a:r>
            <a:endParaRPr lang="en-US" sz="1100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818888"/>
            <a:ext cx="201168" cy="20116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52144" y="47914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DB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снимки всех экранов и сценарий показа на минуту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8357616" y="3456432"/>
            <a:ext cx="3264408" cy="1737360"/>
          </a:xfrm>
          <a:prstGeom prst="roundRect">
            <a:avLst>
              <a:gd name="adj" fmla="val 5263"/>
            </a:avLst>
          </a:prstGeom>
          <a:solidFill>
            <a:srgbClr val="0F1D17"/>
          </a:solidFill>
          <a:ln w="12700">
            <a:solidFill>
              <a:srgbClr val="1E3228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3648" y="3657600"/>
            <a:ext cx="1316736" cy="1316736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0076688" y="39684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cosmo.arbuz.lol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10076688" y="42611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или локально,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одной командой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566928" y="5449824"/>
            <a:ext cx="11055096" cy="603504"/>
          </a:xfrm>
          <a:prstGeom prst="roundRect">
            <a:avLst>
              <a:gd name="adj" fmla="val 15152"/>
            </a:avLst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841248" y="5449824"/>
            <a:ext cx="10506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130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 получает четыре работающих сервиса, понятные правила и запас на случай урезанного бюджета.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566928" y="63825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9795967" y="6382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68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КосмоХакатон 2026, Кейс 02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Космос как инфраструктура</dc:title>
  <dc:subject>PptxGenJS Presentation</dc:subject>
  <dc:creator>Команда «Молоток»</dc:creator>
  <cp:lastModifiedBy>Команда «Молоток»</cp:lastModifiedBy>
  <cp:revision>1</cp:revision>
  <dcterms:created xsi:type="dcterms:W3CDTF">2026-09-13T07:07:55Z</dcterms:created>
  <dcterms:modified xsi:type="dcterms:W3CDTF">2026-09-13T07:07:55Z</dcterms:modified>
</cp:coreProperties>
</file>