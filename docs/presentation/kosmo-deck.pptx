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Мы подбираем региону портфель космических сервисов и сразу показываем, выдержит ли он ограничения кейса. Региону нужен не снимок, а решение, поэтому мы собираем портфель целиком. На экране наш выбор: пожары Сибири, экология Волго-Каспия, поля Юга, транспорт Центра. Старт 1 140 миллионов, общественная польза 1 289 миллионов в год.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сервис заканчивается действием человека. Пожары в Сибири — проверить сигнал. Экология Волго-Каспия — назначить инспекцию. Поля Юга — обследовать участок. Транспорт Центра — изменить план. Первые два общедоступны для органов, вторые два дают заказчику общую картину, а детализацию покупают те, кому она нужна.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Всего портфелей 5 670. Условия кейса при урезанном бюджете проходят 143, и каждая точка здесь — один из них. Золотая точка — первый по баллу модели, зелёная — наш выбор. Первый дешевле, но переводит поля и транспорт в коммерческий режим и срезает общедоступную часть. Наш даёт на 90 миллионов больше пользы в год.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Старт 1 140: 630 миллионов бюджет за общественные сервисы и 510 частный партнёр за поля и транспорт. В год приходит 370,5, содержание стоит 313, остаётся 57,5. Если бюджет урежут до 1 180, мы проходим с запасом 40 и состав не меняем. Если коммерческого спроса не будет совсем, не хватит ста двадцати трёх миллионов в год. Мы говорим об этом 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заказчики и договоры. Потом пилоты по пожарам и экологии, разбор пилотов и обновление ядра, запуск полей и транспорта, тираж в новые регионы. Оператор один и отвечает за сервис целиком, поставщика можно заменить, ядро переносится в следующий регион без переделки.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Слайды закончились, дальше показываем инструмент. Соберём портфель, сломаем его заменой лота, увидим, какое условие нарушено, и вернём обратно.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1371600"/>
            <a:ext cx="8595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Космос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инфраструктура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658368" y="3547872"/>
            <a:ext cx="1517904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8E5D5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86384" y="354787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FIRE-A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322576" y="3547872"/>
            <a:ext cx="1517904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8E5D5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2450592" y="354787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ENV-A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986784" y="3547872"/>
            <a:ext cx="1517904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8E5D5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114800" y="354787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AGRI-B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50992" y="3547872"/>
            <a:ext cx="1517904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8E5D5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779008" y="354787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TRANS-B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4846320"/>
            <a:ext cx="2615184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96112" y="4974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1 140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" y="5413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старт, млн ₽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56432" y="4846320"/>
            <a:ext cx="2615184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694176" y="4974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1 289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3694176" y="5413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польза, млн ₽ в год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54496" y="4846320"/>
            <a:ext cx="2615184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492240" y="4974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370,5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5413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поступления, млн ₽ в год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052560" y="4846320"/>
            <a:ext cx="2615184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290304" y="4974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9290304" y="5413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запас, млн ₽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58368" y="61447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«Молоток». Голубев Павел, Петр Кузнецов, Тимофей Максимов, Лихатин Андрей, Потапенко Филипп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749808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Четыре сервиса. Четыре региона.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58368" y="1883664"/>
            <a:ext cx="2587752" cy="3163824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2139696"/>
            <a:ext cx="713232" cy="713232"/>
          </a:xfrm>
          <a:prstGeom prst="ellipse">
            <a:avLst/>
          </a:prstGeom>
          <a:solidFill>
            <a:srgbClr val="E8F4EC"/>
          </a:solidFill>
          <a:ln w="12700">
            <a:solidFill>
              <a:srgbClr val="C8E5D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3134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298094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FIRE-A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32735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Сибирь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32688" y="3602736"/>
            <a:ext cx="2039112" cy="9144"/>
          </a:xfrm>
          <a:prstGeom prst="rect">
            <a:avLst/>
          </a:prstGeom>
          <a:solidFill>
            <a:srgbClr val="E1E8E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32688" y="373075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Лесные и диспетчерские службы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42062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проверить сигнал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553712"/>
            <a:ext cx="2039112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32688" y="45537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4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время до проверки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61004" y="1883664"/>
            <a:ext cx="2587752" cy="3163824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735324" y="2139696"/>
            <a:ext cx="713232" cy="713232"/>
          </a:xfrm>
          <a:prstGeom prst="ellipse">
            <a:avLst/>
          </a:prstGeom>
          <a:solidFill>
            <a:srgbClr val="E8F4EC"/>
          </a:solidFill>
          <a:ln w="12700">
            <a:solidFill>
              <a:srgbClr val="C8E5D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060" y="23134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35324" y="298094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ENV-A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735324" y="32735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Волго-Каспий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735324" y="3602736"/>
            <a:ext cx="2039112" cy="9144"/>
          </a:xfrm>
          <a:prstGeom prst="rect">
            <a:avLst/>
          </a:prstGeom>
          <a:solidFill>
            <a:srgbClr val="E1E8E3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735324" y="373075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Природоохранный орган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735324" y="42062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назначить инспекцию</a:t>
            </a:r>
            <a:endParaRPr lang="en-US" sz="12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324" y="4553712"/>
            <a:ext cx="2039112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735324" y="45537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4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доля подтверждённых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263640" y="1883664"/>
            <a:ext cx="2587752" cy="3163824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37960" y="2139696"/>
            <a:ext cx="713232" cy="713232"/>
          </a:xfrm>
          <a:prstGeom prst="ellipse">
            <a:avLst/>
          </a:prstGeom>
          <a:solidFill>
            <a:srgbClr val="E8F4EC"/>
          </a:solidFill>
          <a:ln w="12700">
            <a:solidFill>
              <a:srgbClr val="C8E5D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231343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537960" y="298094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AGRI-B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6537960" y="32735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Юг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537960" y="3602736"/>
            <a:ext cx="2039112" cy="9144"/>
          </a:xfrm>
          <a:prstGeom prst="rect">
            <a:avLst/>
          </a:prstGeom>
          <a:solidFill>
            <a:srgbClr val="E1E8E3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537960" y="373075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Хозяйства и органы АПК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537960" y="42062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обследовать участок</a:t>
            </a:r>
            <a:endParaRPr lang="en-US" sz="12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553712"/>
            <a:ext cx="2039112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537960" y="45537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4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сигнал с действием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9066276" y="1883664"/>
            <a:ext cx="2587752" cy="3163824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9340596" y="2139696"/>
            <a:ext cx="713232" cy="713232"/>
          </a:xfrm>
          <a:prstGeom prst="ellipse">
            <a:avLst/>
          </a:prstGeom>
          <a:solidFill>
            <a:srgbClr val="E8F4EC"/>
          </a:solidFill>
          <a:ln w="12700">
            <a:solidFill>
              <a:srgbClr val="C8E5D5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4332" y="2313432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340596" y="298094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TRANS-B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9340596" y="327355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Центр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9340596" y="3602736"/>
            <a:ext cx="2039112" cy="9144"/>
          </a:xfrm>
          <a:prstGeom prst="rect">
            <a:avLst/>
          </a:prstGeom>
          <a:solidFill>
            <a:srgbClr val="E1E8E3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9340596" y="373075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Операторы и перевозчики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9340596" y="42062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изменить план</a:t>
            </a:r>
            <a:endParaRPr lang="en-US" sz="125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0596" y="4553712"/>
            <a:ext cx="2039112" cy="36576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340596" y="45537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4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время до решения</a:t>
            </a:r>
            <a:endParaRPr lang="en-US" sz="11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5285232"/>
            <a:ext cx="5340096" cy="603504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50976" y="5285232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 и ENV — общедоступная основа для органов</a:t>
            </a:r>
            <a:endParaRPr lang="en-US" sz="125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0488" y="5285232"/>
            <a:ext cx="5340096" cy="603504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6483096" y="5285232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 и TRANS — якорный слой и платная детализация</a:t>
            </a:r>
            <a:endParaRPr lang="en-US" sz="1250" dirty="0"/>
          </a:p>
        </p:txBody>
      </p:sp>
      <p:sp>
        <p:nvSpPr>
          <p:cNvPr id="47" name="Text 35"/>
          <p:cNvSpPr txBox="1"/>
          <p:nvPr/>
        </p:nvSpPr>
        <p:spPr>
          <a:xfrm>
            <a:off x="10618927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AA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749808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Баланс важнее максимума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58368" y="1883664"/>
            <a:ext cx="7406640" cy="3986784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1328" y="5230368"/>
            <a:ext cx="5925312" cy="6401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12064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1 000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81328" y="4494276"/>
            <a:ext cx="5925312" cy="6401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38454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1 100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481328" y="3758184"/>
            <a:ext cx="5925312" cy="6401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4845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1 200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81328" y="3022092"/>
            <a:ext cx="5925312" cy="6401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91236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1 300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481328" y="2286000"/>
            <a:ext cx="5925312" cy="6401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17627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1 400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53218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1 130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53218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1 140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123944" y="53218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1 150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111496" y="53218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1 160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099048" y="53218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1 170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" y="19933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польза, млн ₽ в год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55595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старт, млн ₽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06640" y="2212848"/>
            <a:ext cx="12802" cy="3017520"/>
          </a:xfrm>
          <a:prstGeom prst="rect">
            <a:avLst/>
          </a:prstGeom>
          <a:solidFill>
            <a:srgbClr val="B148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88736" y="1920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148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предел 1 180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01757" y="340051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1508" y="338579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53624" y="358601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67151" y="3247409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00595" y="4115998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6529" y="323416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22753" y="355804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14122" y="377739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36197" y="3109024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6114" y="385100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9724" y="277042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63500" y="376414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69724" y="408802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69641" y="351240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75616" y="310608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99102" y="275717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1840" y="342996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5326" y="308105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19018" y="349915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25242" y="382303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9143" y="276747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95367" y="3091358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7483" y="329157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50969" y="294266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70886" y="3684648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41010" y="295297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74454" y="3821561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90388" y="293972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97940" y="347265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6612" y="326360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17856" y="4214634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4080" y="4675428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87981" y="3482959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82089" y="5081751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33542" y="246568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0056" y="281458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37608" y="433682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8354" y="497575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31218" y="360956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53458" y="320766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23583" y="247598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37359" y="3469709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43583" y="379359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31466" y="5068501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44745" y="3270964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486985" y="432357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993209" y="464745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30222" y="5161249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72961" y="246273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79185" y="278661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94122" y="325771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00346" y="358159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38852" y="4509071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279599" y="5147999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24828" y="264823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45990" y="344321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099267" y="502286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785823" y="503905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12794" y="4684261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71799" y="317821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392960" y="397319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65906" y="4777008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21425" y="403208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662172" y="4671011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68396" y="499489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859682" y="449287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328562" y="296622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716280" y="3948169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73209" y="415427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12546" y="384217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518770" y="416605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103998" y="4389824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514039" y="485650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229807" y="360956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26073" y="3503569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32297" y="382745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422587" y="414102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617525" y="405122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928811" y="446490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279185" y="359631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785409" y="392019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666903" y="403797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73127" y="436185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246986" y="340493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74454" y="432652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43666" y="517891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938687" y="5019919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896612" y="4379519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452214" y="468131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057193" y="484031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58438" y="500519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721425" y="485650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246986" y="3550679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6570" y="482706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612794" y="515094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666903" y="429266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04081" y="486681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657027" y="384953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180430" y="3954058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039600" y="3796534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53458" y="485356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958438" y="5012558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859682" y="517744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33542" y="404680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316114" y="3522708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901343" y="374648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177857" y="409538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229807" y="3940808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36031" y="4264688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321259" y="448846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173127" y="472842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686654" y="4389824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246986" y="406741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736031" y="4376574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341010" y="453557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42255" y="470045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34869" y="511708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689226" y="503611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587898" y="456207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548396" y="4778481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039600" y="420727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01508" y="4871228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597774" y="4765231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103998" y="5089111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77857" y="413219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034869" y="509205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763085" y="4355964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296363" y="424702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970471" y="408508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08728" y="417930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970471" y="452379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832214" y="4473739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970471" y="4934532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256861" y="430591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237110" y="4688677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039600" y="4906561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624828" y="513033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108728" y="4822646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276612" y="4629790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177857" y="4794675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624828" y="5130333"/>
            <a:ext cx="82296" cy="82296"/>
          </a:xfrm>
          <a:prstGeom prst="ellipse">
            <a:avLst/>
          </a:prstGeom>
          <a:solidFill>
            <a:srgbClr val="55B894">
              <a:alpha val="65000"/>
            </a:srgbClr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353117" y="3669533"/>
            <a:ext cx="192024" cy="192024"/>
          </a:xfrm>
          <a:prstGeom prst="ellipse">
            <a:avLst/>
          </a:prstGeom>
          <a:solidFill>
            <a:srgbClr val="A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2595433" y="4003289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976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первый по баллу</a:t>
            </a:r>
            <a:endParaRPr lang="en-US" sz="950" dirty="0"/>
          </a:p>
        </p:txBody>
      </p:sp>
      <p:sp>
        <p:nvSpPr>
          <p:cNvPr id="166" name="Shape 164"/>
          <p:cNvSpPr/>
          <p:nvPr/>
        </p:nvSpPr>
        <p:spPr>
          <a:xfrm>
            <a:off x="3360420" y="3007050"/>
            <a:ext cx="192024" cy="192024"/>
          </a:xfrm>
          <a:prstGeom prst="ellipse">
            <a:avLst/>
          </a:prstGeom>
          <a:solidFill>
            <a:srgbClr val="0B4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2560320" y="300247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наш выбор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8284464" y="1883664"/>
            <a:ext cx="3246120" cy="3986784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169" name="Text 167"/>
          <p:cNvSpPr txBox="1"/>
          <p:nvPr/>
        </p:nvSpPr>
        <p:spPr>
          <a:xfrm>
            <a:off x="8577072" y="21214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этот</a:t>
            </a:r>
            <a:endParaRPr lang="en-US" sz="1600" dirty="0"/>
          </a:p>
        </p:txBody>
      </p:sp>
      <p:sp>
        <p:nvSpPr>
          <p:cNvPr id="170" name="Shape 168"/>
          <p:cNvSpPr/>
          <p:nvPr/>
        </p:nvSpPr>
        <p:spPr>
          <a:xfrm>
            <a:off x="8595360" y="2688336"/>
            <a:ext cx="100584" cy="100584"/>
          </a:xfrm>
          <a:prstGeom prst="ellipse">
            <a:avLst/>
          </a:prstGeom>
          <a:solidFill>
            <a:srgbClr val="55B894"/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8851392" y="2596896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Больше общественной пользы, чем у дешёвых вариантов</a:t>
            </a:r>
            <a:endParaRPr lang="en-US" sz="1150" dirty="0"/>
          </a:p>
        </p:txBody>
      </p:sp>
      <p:sp>
        <p:nvSpPr>
          <p:cNvPr id="172" name="Shape 170"/>
          <p:cNvSpPr/>
          <p:nvPr/>
        </p:nvSpPr>
        <p:spPr>
          <a:xfrm>
            <a:off x="8595360" y="3310128"/>
            <a:ext cx="100584" cy="100584"/>
          </a:xfrm>
          <a:prstGeom prst="ellipse">
            <a:avLst/>
          </a:prstGeom>
          <a:solidFill>
            <a:srgbClr val="55B894"/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8851392" y="321868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Денег хватает на содержание всех четырёх сервисов</a:t>
            </a:r>
            <a:endParaRPr lang="en-US" sz="1150" dirty="0"/>
          </a:p>
        </p:txBody>
      </p:sp>
      <p:sp>
        <p:nvSpPr>
          <p:cNvPr id="174" name="Shape 172"/>
          <p:cNvSpPr/>
          <p:nvPr/>
        </p:nvSpPr>
        <p:spPr>
          <a:xfrm>
            <a:off x="8595360" y="3931920"/>
            <a:ext cx="100584" cy="100584"/>
          </a:xfrm>
          <a:prstGeom prst="ellipse">
            <a:avLst/>
          </a:prstGeom>
          <a:solidFill>
            <a:srgbClr val="55B894"/>
          </a:solidFill>
          <a:ln w="12700">
            <a:solidFill>
              <a:srgbClr val="55B894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8851392" y="384048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Остаётся запас, если бюджет урежут</a:t>
            </a:r>
            <a:endParaRPr lang="en-US" sz="1150" dirty="0"/>
          </a:p>
        </p:txBody>
      </p:sp>
      <p:pic>
        <p:nvPicPr>
          <p:cNvPr id="17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2" y="4517136"/>
            <a:ext cx="2651760" cy="512064"/>
          </a:xfrm>
          <a:prstGeom prst="rect">
            <a:avLst/>
          </a:prstGeom>
        </p:spPr>
      </p:pic>
      <p:sp>
        <p:nvSpPr>
          <p:cNvPr id="177" name="Text 174"/>
          <p:cNvSpPr txBox="1"/>
          <p:nvPr/>
        </p:nvSpPr>
        <p:spPr>
          <a:xfrm>
            <a:off x="8741664" y="45171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+90 млн ₽ пользы в год</a:t>
            </a:r>
            <a:endParaRPr lang="en-US" sz="1350" dirty="0"/>
          </a:p>
        </p:txBody>
      </p:sp>
      <p:sp>
        <p:nvSpPr>
          <p:cNvPr id="178" name="Text 175"/>
          <p:cNvSpPr txBox="1"/>
          <p:nvPr/>
        </p:nvSpPr>
        <p:spPr>
          <a:xfrm>
            <a:off x="8577072" y="51389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сравнению с первым по баллу: он дешевле, но срезает общедоступную часть услуги.</a:t>
            </a:r>
            <a:endParaRPr lang="en-US" sz="1100" dirty="0"/>
          </a:p>
        </p:txBody>
      </p:sp>
      <p:sp>
        <p:nvSpPr>
          <p:cNvPr id="179" name="Text 176"/>
          <p:cNvSpPr txBox="1"/>
          <p:nvPr/>
        </p:nvSpPr>
        <p:spPr>
          <a:xfrm>
            <a:off x="10618927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AA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749808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Деньги сходятся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58368" y="1883664"/>
            <a:ext cx="640080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Старт, млн ₽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68880"/>
            <a:ext cx="3116660" cy="8229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364" y="2468880"/>
            <a:ext cx="2534332" cy="822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61872" y="2468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630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433396" y="2468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510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0058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за FIRE и ENV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177364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Частный партнёр за AGRI и TRANS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70064" y="1883664"/>
            <a:ext cx="416052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717536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Год, млн ₽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6" y="2743200"/>
            <a:ext cx="1042416" cy="10424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607808" y="23957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370,5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516368" y="387705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поступления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2904978"/>
            <a:ext cx="1042416" cy="8806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887968" y="255750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313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796528" y="387705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содержание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2688336"/>
            <a:ext cx="1005840" cy="10058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277856" y="29626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+57,5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658368" y="4370832"/>
            <a:ext cx="10874959" cy="1591056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1024128" y="4553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Если бюджет урежут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1024128" y="4974336"/>
            <a:ext cx="10140696" cy="512064"/>
          </a:xfrm>
          <a:prstGeom prst="roundRect">
            <a:avLst>
              <a:gd name="adj" fmla="val 14286"/>
            </a:avLst>
          </a:prstGeom>
          <a:solidFill>
            <a:srgbClr val="EDF3EF"/>
          </a:solidFill>
          <a:ln w="12700">
            <a:solidFill>
              <a:srgbClr val="E4EDE7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974336"/>
            <a:ext cx="8892610" cy="512064"/>
          </a:xfrm>
          <a:prstGeom prst="rect">
            <a:avLst/>
          </a:prstGeom>
        </p:spPr>
      </p:pic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5026" y="4974336"/>
            <a:ext cx="293733" cy="51206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261872" y="49743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 1 140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10228760" y="4828032"/>
            <a:ext cx="12802" cy="804672"/>
          </a:xfrm>
          <a:prstGeom prst="rect">
            <a:avLst/>
          </a:prstGeom>
          <a:solidFill>
            <a:srgbClr val="B1483C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8454824" y="45720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48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урезанный бюджет 1 180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11164824" y="4828032"/>
            <a:ext cx="12802" cy="804672"/>
          </a:xfrm>
          <a:prstGeom prst="rect">
            <a:avLst/>
          </a:prstGeom>
          <a:solidFill>
            <a:srgbClr val="8D9E95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10744200" y="45720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D9E9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1 300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1024128" y="56144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76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запас 40 млн ₽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3858768" y="56144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коммерческой выручки не хватит 123 млн ₽ в год, покрывать придётся заказчику.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10618927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AA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749808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Пять шагов до 2033 года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24128" y="3035808"/>
            <a:ext cx="10143439" cy="10973"/>
          </a:xfrm>
          <a:prstGeom prst="rect">
            <a:avLst/>
          </a:prstGeom>
          <a:solidFill>
            <a:srgbClr val="DCE7E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157984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2027, первое полугодие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3040" y="280720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B8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3511296"/>
            <a:ext cx="2066544" cy="1792224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37490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4169664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Заказчики и договоры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49194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заказчик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2157984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2027–2028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280720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B89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0332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898648" y="3511296"/>
            <a:ext cx="2066544" cy="1792224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37490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044952" y="4169664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Пилоты по пожарам и экологии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044952" y="49194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138928" y="2157984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2028, второе полугодие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43600" y="280720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B89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94360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138928" y="3511296"/>
            <a:ext cx="2066544" cy="1792224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74904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285232" y="4169664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Разбор пилотов и обновление ядра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5285232" y="49194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7379208" y="2157984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2029–2030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183880" y="280720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B894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1838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7379208" y="3511296"/>
            <a:ext cx="2066544" cy="1792224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374904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525512" y="4169664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 полей и транспорта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7525512" y="49194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частный партнёр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9619488" y="2157984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2031–2033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10424160" y="280720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B894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042416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9619488" y="3511296"/>
            <a:ext cx="2066544" cy="1792224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374904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765792" y="4169664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Тираж в новые регионы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765792" y="49194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заказчик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58368" y="5468112"/>
            <a:ext cx="10874959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5687568"/>
            <a:ext cx="219456" cy="219456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353312" y="54681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 один</a:t>
            </a:r>
            <a:endParaRPr lang="en-US" sz="12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5687568"/>
            <a:ext cx="219456" cy="219456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919472" y="54681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Поставщика можно заменить</a:t>
            </a:r>
            <a:endParaRPr lang="en-US" sz="12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4736" y="5687568"/>
            <a:ext cx="219456" cy="219456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8485632" y="54681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51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Ядро переносится в новый регион</a:t>
            </a:r>
            <a:endParaRPr lang="en-US" sz="1200" dirty="0"/>
          </a:p>
        </p:txBody>
      </p:sp>
      <p:sp>
        <p:nvSpPr>
          <p:cNvPr id="46" name="Text 36"/>
          <p:cNvSpPr txBox="1"/>
          <p:nvPr/>
        </p:nvSpPr>
        <p:spPr>
          <a:xfrm>
            <a:off x="10618927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AA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042416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1F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Дальше — живая демонстрация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4315968" y="2267712"/>
            <a:ext cx="3566160" cy="35661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F16">
                <a:alpha val="10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551176"/>
            <a:ext cx="2999232" cy="29992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0" y="6016752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F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cosmo.arbuz.lol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Кейс 02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Космос как инфраструктура</dc:title>
  <dc:subject>PptxGenJS Presentation</dc:subject>
  <dc:creator>Команда «Молоток»</dc:creator>
  <cp:lastModifiedBy>Команда «Молоток»</cp:lastModifiedBy>
  <cp:revision>1</cp:revision>
  <dcterms:created xsi:type="dcterms:W3CDTF">2026-09-13T08:33:06Z</dcterms:created>
  <dcterms:modified xsi:type="dcterms:W3CDTF">2026-09-13T08:33:06Z</dcterms:modified>
</cp:coreProperties>
</file>